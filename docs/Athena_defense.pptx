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0" cy="54864"/>
          </a:xfrm>
          <a:prstGeom prst="rect">
            <a:avLst/>
          </a:prstGeom>
          <a:solidFill>
            <a:srgbClr val="3A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380"/>
                </a:solidFill>
                <a:latin typeface="Calibri"/>
              </a:rPr>
              <a:t>Итоговый проект по программе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14161A"/>
                </a:solidFill>
                <a:latin typeface="Calibri"/>
              </a:rPr>
              <a:t>«Системный аналитик промышленных цифровых решений:
проектирование, прототипирование, бизнес-эффекты»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14161A"/>
                </a:solidFill>
                <a:latin typeface="Calibri"/>
              </a:rPr>
              <a:t>Athena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6B7380"/>
                </a:solidFill>
                <a:latin typeface="Calibri"/>
              </a:rPr>
              <a:t>Локальный DSS-ассистент по базе знаний · RAG + Qwen +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4161A"/>
                </a:solidFill>
                <a:latin typeface="Calibri"/>
              </a:rPr>
              <a:t>Поток СА 102</a:t>
            </a:r>
          </a:p>
          <a:p>
            <a:r>
              <a:rPr sz="1200" b="0">
                <a:solidFill>
                  <a:srgbClr val="6B7380"/>
                </a:solidFill>
                <a:latin typeface="Calibri"/>
              </a:rPr>
              <a:t>Даты обучения: 31 августа 2026 – 28 сентября 2026</a:t>
            </a:r>
          </a:p>
          <a:p>
            <a:r>
              <a:rPr sz="1200" b="0">
                <a:solidFill>
                  <a:srgbClr val="6B7380"/>
                </a:solidFill>
                <a:latin typeface="Calibri"/>
              </a:rPr>
              <a:t>Федеральный проект «Содействие занятости»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84632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4161A"/>
                </a:solidFill>
                <a:latin typeface="Calibri"/>
              </a:rPr>
              <a:t>ФИО полностью</a:t>
            </a:r>
          </a:p>
          <a:p>
            <a:pPr algn="r"/>
            <a:r>
              <a:rPr sz="1100" b="0">
                <a:solidFill>
                  <a:srgbClr val="9AA3AF"/>
                </a:solidFill>
                <a:latin typeface="Calibri"/>
              </a:rPr>
              <a:t>подставьте своё имя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9AA3AF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AA3AF"/>
                </a:solidFill>
                <a:latin typeface="Calibri"/>
              </a:rPr>
              <a:t>01  /  БИЗНЕС-ЗАДАЧА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A"/>
                </a:solidFill>
                <a:latin typeface="Calibri"/>
              </a:rPr>
              <a:t>Поиск по заметкам занимает минуты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4161A"/>
                </a:solidFill>
                <a:latin typeface="Calibri"/>
              </a:rPr>
              <a:t>Специалист вручную ищет ответы в сотнях .md (Obsidian). Облачный чат не видит личную БЗ и уносит данные наружу.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80360"/>
            <a:ext cx="521208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Как сейчас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Открыть vault → поиск по имени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→ пролистать файлы → собрать ответ.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10–15 мин на вопрос, легко пропустить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нужную заметку.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880360"/>
            <a:ext cx="539496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063240"/>
            <a:ext cx="4937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Почему важно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4290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Потери времени knowledge-worker.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Риск устаревших / неверных шагов.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Нужны источники и отказ вне БЗ.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Тот же сценарий — для отдела.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4161A"/>
                </a:solidFill>
                <a:latin typeface="Calibri"/>
              </a:rPr>
              <a:t>Подтверждение: </a:t>
            </a:r>
            <a:r>
              <a:rPr sz="1200" b="0">
                <a:solidFill>
                  <a:srgbClr val="6B7380"/>
                </a:solidFill>
                <a:latin typeface="Calibri"/>
              </a:rPr>
              <a:t>vault ~956 файлов; ручной поиск 10–15 мин vs целевые 1–3 мин с ассистентом.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9AA3AF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AA3AF"/>
                </a:solidFill>
                <a:latin typeface="Calibri"/>
              </a:rPr>
              <a:t>02  /  КОНТЕКСТ И РАМКА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161A"/>
                </a:solidFill>
                <a:latin typeface="Calibri"/>
              </a:rPr>
              <a:t>Что изучаем и что отдаём на выходе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380"/>
                </a:solidFill>
                <a:latin typeface="Calibri"/>
              </a:rPr>
              <a:t>Коротко: персональный knowledge-assistant как пилот DSS для отдела.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2044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011680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Контекст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7744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Личные / учебные заметки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и сценарий «как я это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делал раньше?»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52044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2011680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Аналитическая цель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37744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Проверить: локальный RAG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даёт точные ответы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со источниками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52044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2011680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Стейкхолдеры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37744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Заказчик: владелец БЗ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Пользователь: специалист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Приёмка: на защите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352044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251960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Входные данные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61772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956 .md/.txt → 3003 чанка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Chroma + nomic-embed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покрытие 100%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4069080"/>
            <a:ext cx="352044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7" y="4251960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Ожидаемый результат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7" y="461772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Прототип Athena + UI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отчёт, тесты, экономика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запуск ./scripts/start.sh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069080"/>
            <a:ext cx="352044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4251960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Внедрение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8" y="461772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Пилот 2–3 недели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ingest при обновлении БЗ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опция 9b / 27b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9AA3AF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AA3AF"/>
                </a:solidFill>
                <a:latin typeface="Calibri"/>
              </a:rPr>
              <a:t>02  /  ПОДХОД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A"/>
                </a:solidFill>
                <a:latin typeface="Calibri"/>
              </a:rPr>
              <a:t>Предлагаемое ИИ-решение: Athena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21208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92808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Исходные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Папка заметок ATHENA_KB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.md / .txt (+ PDF→md)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локальный векторный индекс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21208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92808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Работа 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Hybrid retrieve + Qwen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ответ только по контексту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think=false, top-k=8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86200"/>
            <a:ext cx="521208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87368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Результат для пользователя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8056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Краткий ответ в UI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список источников (имена)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мгновенные приветствия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886200"/>
            <a:ext cx="521208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087368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Контроль человека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48056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Человек читает источники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отказ, если данных нет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без авто-действий вовне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9AA3AF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AA3AF"/>
                </a:solidFill>
                <a:latin typeface="Calibri"/>
              </a:rPr>
              <a:t>03  /  ЦЕЛЬ И МЕТРИКИ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161A"/>
                </a:solidFill>
                <a:latin typeface="Calibri"/>
              </a:rPr>
              <a:t>Цель и метрики успеха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К 28.09.2026 сократить время поиска ответа по БЗ с 10–15 мин до 1–3 мин при точности ≥4/5 и корректных отказах.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56032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011680"/>
                <a:gridCol w="2286000"/>
                <a:gridCol w="3383280"/>
              </a:tblGrid>
              <a:tr h="58521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161A"/>
                          </a:solidFill>
                          <a:latin typeface="Calibri"/>
                        </a:rPr>
                        <a:t>Показатель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161A"/>
                          </a:solidFill>
                          <a:latin typeface="Calibri"/>
                        </a:rPr>
                        <a:t>Сейчас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161A"/>
                          </a:solidFill>
                          <a:latin typeface="Calibri"/>
                        </a:rPr>
                        <a:t>Цель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161A"/>
                          </a:solidFill>
                          <a:latin typeface="Calibri"/>
                        </a:rPr>
                        <a:t>Как измеряем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Время на ответ, мин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10–15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1–3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Секундомер на 5–7 запросах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Качество ответа, 1–5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~2–3 (v1)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≥4 у ≥70%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TEST_LOG, экспертная оценка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Покрытие индекса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scripts/check_index.py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Ложный отказ / галлюцинация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бывало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≈0 на тестах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Кейс вне БЗ + ревью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9AA3AF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AA3AF"/>
                </a:solidFill>
                <a:latin typeface="Calibri"/>
              </a:rPr>
              <a:t>04  /  КОНЦЕПЦИЯ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A"/>
                </a:solidFill>
                <a:latin typeface="Calibri"/>
              </a:rPr>
              <a:t>Концепция проекта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210312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783080"/>
            <a:ext cx="1783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A8F84"/>
                </a:solidFill>
                <a:latin typeface="Calibri"/>
              </a:rPr>
              <a:t>1. 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1945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chunk + embed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600200"/>
            <a:ext cx="210312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1783080"/>
            <a:ext cx="1783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A8F84"/>
                </a:solidFill>
                <a:latin typeface="Calibri"/>
              </a:rPr>
              <a:t>2. Chroma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21945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векторный индекс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600200"/>
            <a:ext cx="210312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85232" y="1783080"/>
            <a:ext cx="1783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A8F84"/>
                </a:solidFill>
                <a:latin typeface="Calibri"/>
              </a:rPr>
              <a:t>3. Retrieve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2" y="21945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hybrid top-k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600200"/>
            <a:ext cx="210312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2" y="1783080"/>
            <a:ext cx="1783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A8F84"/>
                </a:solidFill>
                <a:latin typeface="Calibri"/>
              </a:rPr>
              <a:t>4. Qwen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1945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generate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1600200"/>
            <a:ext cx="210312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65792" y="1783080"/>
            <a:ext cx="1783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A8F84"/>
                </a:solidFill>
                <a:latin typeface="Calibri"/>
              </a:rPr>
              <a:t>5.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21945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Calibri"/>
              </a:rPr>
              <a:t>FastAPI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91840"/>
            <a:ext cx="5212080" cy="2606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474720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Стейкхолдеры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8862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Заказчик — владелец базы знаний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Пользователь — knowledge-worker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ИТ/ИБ — локальный контур данных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На защите — комиссия программы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291840"/>
            <a:ext cx="5394960" cy="2606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474720"/>
            <a:ext cx="4937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Продукты на выходе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8862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Рабочий прототип Athena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Отчёт REPORT.md + тест-лог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Скрипты ingest / check_index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Презентация и живое демо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9AA3AF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AA3AF"/>
                </a:solidFill>
                <a:latin typeface="Calibri"/>
              </a:rPr>
              <a:t>05  /  ГРАНИЦЫ ПИЛОТА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A"/>
                </a:solidFill>
                <a:latin typeface="Calibri"/>
              </a:rPr>
              <a:t>Границы пилота и готовность данных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21208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Входит в пилот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1 пользователь / свой vault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Вопросы по заметкам (.md/.txt)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Локальный UI http://127.0.0.1:7860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Модели 9b (скорость) / 27b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00200"/>
            <a:ext cx="539496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83080"/>
            <a:ext cx="4937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За пределами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94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Мультипользователь / SSO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Юр./мед. заключения «от себя»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Облачный share заметок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Авто-изменения в системах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402336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852160"/>
              </a:tblGrid>
              <a:tr h="4876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161A"/>
                          </a:solidFill>
                          <a:latin typeface="Calibri"/>
                        </a:rPr>
                        <a:t>Данные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161A"/>
                          </a:solidFill>
                          <a:latin typeface="Calibri"/>
                        </a:rPr>
                        <a:t>Готовность и действия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956 файлов vault, md/txt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Доступ есть, индекс собран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Качество / шум 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PDF→md, hybrid retrieve, re-ingest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9AA3AF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AA3AF"/>
                </a:solidFill>
                <a:latin typeface="Calibri"/>
              </a:rPr>
              <a:t>06  /  ПРОБНОЕ ДЕЙСТВИЕ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A"/>
                </a:solidFill>
                <a:latin typeface="Calibri"/>
              </a:rPr>
              <a:t>MVP и цикл улучшения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52044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83080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Алгоритм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240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Ingest → hybrid retrieve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→ Qwen по контексту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→ источники в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00200"/>
            <a:ext cx="352044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1783080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2240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Athena UI + Chroma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qwen3.5:9b/27b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start.sh одной командой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00200"/>
            <a:ext cx="352044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8" y="1783080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Рефлексия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240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v1: шум PDF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v2: чистый md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v3+: hybrid + ключи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20"/>
            <a:ext cx="1088136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343400"/>
            <a:ext cx="10424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Что получилось / что дальше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548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Получилось: 100% покрытие, живой UI, отказ вне БЗ, ускорение ответов на 9b.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Дальше: заполнить TEST_LOG на защите, пилот 20 реальных вопросов, регламент re-ingest.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9AA3AF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AA3AF"/>
                </a:solidFill>
                <a:latin typeface="Calibri"/>
              </a:rPr>
              <a:t>07  /  КОМАНДА И РОЛИ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A"/>
                </a:solidFill>
                <a:latin typeface="Calibri"/>
              </a:rPr>
              <a:t>Команда и ответственность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474720"/>
                <a:gridCol w="4480560"/>
              </a:tblGrid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161A"/>
                          </a:solidFill>
                          <a:latin typeface="Calibri"/>
                        </a:rPr>
                        <a:t>Роль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161A"/>
                          </a:solidFill>
                          <a:latin typeface="Calibri"/>
                        </a:rPr>
                        <a:t>Участник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161A"/>
                          </a:solidFill>
                          <a:latin typeface="Calibri"/>
                        </a:rPr>
                        <a:t>Ответственность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Спонсор / заказчик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Владелец БЗ (слушатель)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Цели пилота, решение о продолжении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Владелец задачи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Слушатель СА 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Требования, приёмка, отчёт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ИИ / данные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Слушатель (прототип)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RAG, UI, индекс, промпт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Пользователь пилота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Тот же / коллега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Тест-запросы и feedback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3035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161A"/>
                </a:solidFill>
                <a:latin typeface="Calibri"/>
              </a:rPr>
              <a:t>Ответственный за пилот: </a:t>
            </a:r>
            <a:r>
              <a:rPr sz="1300" b="0">
                <a:solidFill>
                  <a:srgbClr val="6B7380"/>
                </a:solidFill>
                <a:latin typeface="Calibri"/>
              </a:rPr>
              <a:t>слушатель (подставьте ФИО). Согласования ИТ/ИБ: локальный контур, без облака.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9AA3AF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AA3AF"/>
                </a:solidFill>
                <a:latin typeface="Calibri"/>
              </a:rPr>
              <a:t>08  /  СРОКИ И РЕСУРСЫ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A"/>
                </a:solidFill>
                <a:latin typeface="Calibri"/>
              </a:rPr>
              <a:t>Сроки и ресурсы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69748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74519"/>
            <a:ext cx="2331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Неделя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Железо, Ollama, GPU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каркас RAG + ingest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69748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874519"/>
            <a:ext cx="2331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Неделя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377440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UI Athena, hybrid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доработки качества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269748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2331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Неделя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Тесты, экономика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отчёт и защита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645920"/>
            <a:ext cx="269748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874519"/>
            <a:ext cx="2331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Пилот+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377440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20 вопросов, feedback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регламент re-ingest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72000"/>
            <a:ext cx="108813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54880"/>
            <a:ext cx="10424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Ресурсы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1206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161A"/>
                </a:solidFill>
                <a:latin typeface="Calibri"/>
              </a:rPr>
              <a:t>RTX 3090 24 ГБ · ~62 ГБ RAM · Ollama · лицензии 0 ₽ · разработка прототипа 12–20 ч · поддержка 2–4 ч/мес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9AA3A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AA3AF"/>
                </a:solidFill>
                <a:latin typeface="Calibri"/>
              </a:rPr>
              <a:t>09  /  РИСКИ И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161A"/>
                </a:solidFill>
                <a:latin typeface="Calibri"/>
              </a:rPr>
              <a:t>Риски и критерии решения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4572000"/>
                <a:gridCol w="283464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161A"/>
                          </a:solidFill>
                          <a:latin typeface="Calibri"/>
                        </a:rPr>
                        <a:t>Ключевой риск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161A"/>
                          </a:solidFill>
                          <a:latin typeface="Calibri"/>
                        </a:rPr>
                        <a:t>Как снижаем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161A"/>
                          </a:solidFill>
                          <a:latin typeface="Calibri"/>
                        </a:rPr>
                        <a:t>Ответственный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Неполная / устаревшая БЗ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ingest + check_index после правок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Владелец БЗ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Шумный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hybrid, PDF→md, diversity top-k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ИИ/данные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Галлюцинации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prompt «только контекст» + источники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ИИ/данные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Медленные ответы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GPU, 9b, think=false, unload VRAM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61A"/>
                          </a:solidFill>
                          <a:latin typeface="Calibri"/>
                        </a:rPr>
                        <a:t>ИИ/данные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572000"/>
            <a:ext cx="352044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4709160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Масштабировать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50292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4161A"/>
                </a:solidFill>
                <a:latin typeface="Calibri"/>
              </a:rPr>
              <a:t>≥70% ответов ≥4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161A"/>
                </a:solidFill>
                <a:latin typeface="Calibri"/>
              </a:rPr>
              <a:t>отказы корректны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161A"/>
                </a:solidFill>
                <a:latin typeface="Calibri"/>
              </a:rPr>
              <a:t>пользователь экономит время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4572000"/>
            <a:ext cx="352044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4709160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Доработать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50292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4161A"/>
                </a:solidFill>
                <a:latin typeface="Calibri"/>
              </a:rPr>
              <a:t>Качество 3–4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161A"/>
                </a:solidFill>
                <a:latin typeface="Calibri"/>
              </a:rPr>
              <a:t>узкие темы / имена файлов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161A"/>
                </a:solidFill>
                <a:latin typeface="Calibri"/>
              </a:rPr>
              <a:t>дожать retrieve и корпус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572000"/>
            <a:ext cx="352044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  <a:effectLst>
            <a:outerShdw blurRad="50800" dist="25400" dir="2700000" algn="tl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4709160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A8F84"/>
                </a:solidFill>
                <a:latin typeface="Calibri"/>
              </a:rPr>
              <a:t>Остановить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50292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4161A"/>
                </a:solidFill>
                <a:latin typeface="Calibri"/>
              </a:rPr>
              <a:t>Крит. галлюцинации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161A"/>
                </a:solidFill>
                <a:latin typeface="Calibri"/>
              </a:rPr>
              <a:t>нет эффекта по времени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161A"/>
                </a:solidFill>
                <a:latin typeface="Calibri"/>
              </a:rPr>
              <a:t>данные нельзя держать локально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9AA3A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377440"/>
            <a:ext cx="914400" cy="54864"/>
          </a:xfrm>
          <a:prstGeom prst="rect">
            <a:avLst/>
          </a:prstGeom>
          <a:solidFill>
            <a:srgbClr val="3A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4161A"/>
                </a:solidFill>
                <a:latin typeface="Calibri"/>
              </a:rPr>
              <a:t>Спасибо за внимание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6B7380"/>
                </a:solidFill>
                <a:latin typeface="Calibri"/>
              </a:rPr>
              <a:t>Athena · демо http://127.0.0.1:7860 · вопросы?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AA3AF"/>
                </a:solidFill>
                <a:latin typeface="Calibri"/>
              </a:rPr>
              <a:t>Поток СА 102  ·  31.08–28.09.2026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9AA3A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