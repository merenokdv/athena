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58" r:id="rId5"/>
    <p:sldId id="259" r:id="rId6"/>
    <p:sldId id="266" r:id="rId7"/>
    <p:sldId id="260" r:id="rId8"/>
    <p:sldId id="265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Назовите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конкретную</a:t>
            </a:r>
            <a:r>
              <a:rPr dirty="0"/>
              <a:t> </a:t>
            </a:r>
            <a:r>
              <a:rPr dirty="0" err="1"/>
              <a:t>задачу</a:t>
            </a:r>
            <a:r>
              <a:rPr dirty="0"/>
              <a:t>. </a:t>
            </a:r>
            <a:r>
              <a:rPr dirty="0" err="1"/>
              <a:t>Укажите</a:t>
            </a:r>
            <a:r>
              <a:rPr dirty="0"/>
              <a:t> </a:t>
            </a:r>
            <a:r>
              <a:rPr dirty="0" err="1"/>
              <a:t>школу</a:t>
            </a:r>
            <a:r>
              <a:rPr dirty="0"/>
              <a:t>, </a:t>
            </a:r>
            <a:r>
              <a:rPr dirty="0" err="1"/>
              <a:t>команду</a:t>
            </a:r>
            <a:r>
              <a:rPr dirty="0"/>
              <a:t>, </a:t>
            </a:r>
            <a:r>
              <a:rPr dirty="0" err="1"/>
              <a:t>организацию</a:t>
            </a:r>
            <a:r>
              <a:rPr dirty="0"/>
              <a:t> и </a:t>
            </a:r>
            <a:r>
              <a:rPr dirty="0" err="1"/>
              <a:t>дату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Опишите</a:t>
            </a:r>
            <a:r>
              <a:rPr dirty="0"/>
              <a:t> </a:t>
            </a:r>
            <a:r>
              <a:rPr dirty="0" err="1"/>
              <a:t>реальную</a:t>
            </a:r>
            <a:r>
              <a:rPr dirty="0"/>
              <a:t> </a:t>
            </a:r>
            <a:r>
              <a:rPr dirty="0" err="1"/>
              <a:t>проблему</a:t>
            </a:r>
            <a:r>
              <a:rPr dirty="0"/>
              <a:t> и </a:t>
            </a:r>
            <a:r>
              <a:rPr dirty="0" err="1"/>
              <a:t>её</a:t>
            </a:r>
            <a:r>
              <a:rPr dirty="0"/>
              <a:t> </a:t>
            </a:r>
            <a:r>
              <a:rPr dirty="0" err="1"/>
              <a:t>последствия</a:t>
            </a:r>
            <a:r>
              <a:rPr dirty="0"/>
              <a:t>. </a:t>
            </a:r>
            <a:r>
              <a:rPr dirty="0" err="1"/>
              <a:t>Укажите</a:t>
            </a:r>
            <a:r>
              <a:rPr dirty="0"/>
              <a:t> </a:t>
            </a:r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оценки</a:t>
            </a:r>
            <a:r>
              <a:rPr dirty="0"/>
              <a:t>, </a:t>
            </a:r>
            <a:r>
              <a:rPr dirty="0" err="1"/>
              <a:t>единицы</a:t>
            </a:r>
            <a:r>
              <a:rPr dirty="0"/>
              <a:t> и </a:t>
            </a:r>
            <a:r>
              <a:rPr dirty="0" err="1"/>
              <a:t>период</a:t>
            </a:r>
            <a:r>
              <a:rPr dirty="0"/>
              <a:t>.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подменяйте</a:t>
            </a:r>
            <a:r>
              <a:rPr dirty="0"/>
              <a:t> </a:t>
            </a:r>
            <a:r>
              <a:rPr dirty="0" err="1"/>
              <a:t>задачу</a:t>
            </a:r>
            <a:r>
              <a:rPr dirty="0"/>
              <a:t> </a:t>
            </a:r>
            <a:r>
              <a:rPr dirty="0" err="1"/>
              <a:t>желанием</a:t>
            </a:r>
            <a:r>
              <a:rPr dirty="0"/>
              <a:t> </a:t>
            </a:r>
            <a:r>
              <a:rPr dirty="0" err="1"/>
              <a:t>внедрить</a:t>
            </a:r>
            <a:r>
              <a:rPr dirty="0"/>
              <a:t> 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Объясните </a:t>
            </a:r>
            <a:r>
              <a:rPr dirty="0" err="1"/>
              <a:t>подход</a:t>
            </a:r>
            <a:r>
              <a:rPr dirty="0"/>
              <a:t> </a:t>
            </a:r>
            <a:r>
              <a:rPr dirty="0" err="1"/>
              <a:t>простыми</a:t>
            </a:r>
            <a:r>
              <a:rPr dirty="0"/>
              <a:t> </a:t>
            </a:r>
            <a:r>
              <a:rPr dirty="0" err="1"/>
              <a:t>словами</a:t>
            </a:r>
            <a:r>
              <a:rPr dirty="0"/>
              <a:t>. </a:t>
            </a:r>
            <a:r>
              <a:rPr dirty="0" err="1"/>
              <a:t>Назовите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инструмент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выбрали</a:t>
            </a:r>
            <a:r>
              <a:rPr dirty="0"/>
              <a:t>. </a:t>
            </a:r>
            <a:r>
              <a:rPr dirty="0" err="1"/>
              <a:t>Раскройте</a:t>
            </a:r>
            <a:r>
              <a:rPr dirty="0"/>
              <a:t>, </a:t>
            </a:r>
            <a:r>
              <a:rPr dirty="0" err="1"/>
              <a:t>почему</a:t>
            </a:r>
            <a:r>
              <a:rPr dirty="0"/>
              <a:t> ИИ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, и </a:t>
            </a:r>
            <a:r>
              <a:rPr dirty="0" err="1"/>
              <a:t>назовите</a:t>
            </a:r>
            <a:r>
              <a:rPr dirty="0"/>
              <a:t> </a:t>
            </a:r>
            <a:r>
              <a:rPr dirty="0" err="1"/>
              <a:t>простую</a:t>
            </a:r>
            <a:r>
              <a:rPr dirty="0"/>
              <a:t> </a:t>
            </a:r>
            <a:r>
              <a:rPr dirty="0" err="1"/>
              <a:t>альтернативу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сравнения</a:t>
            </a:r>
            <a:r>
              <a:rPr dirty="0"/>
              <a:t>.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заменить</a:t>
            </a:r>
            <a:r>
              <a:rPr dirty="0"/>
              <a:t> </a:t>
            </a:r>
            <a:r>
              <a:rPr dirty="0" err="1"/>
              <a:t>этот</a:t>
            </a:r>
            <a:r>
              <a:rPr dirty="0"/>
              <a:t> </a:t>
            </a:r>
            <a:r>
              <a:rPr dirty="0" err="1"/>
              <a:t>слайд</a:t>
            </a:r>
            <a:r>
              <a:rPr dirty="0"/>
              <a:t> </a:t>
            </a:r>
            <a:r>
              <a:rPr dirty="0" err="1"/>
              <a:t>скриншотом</a:t>
            </a:r>
            <a:r>
              <a:rPr dirty="0"/>
              <a:t> </a:t>
            </a:r>
            <a:r>
              <a:rPr dirty="0" err="1"/>
              <a:t>прототипа</a:t>
            </a:r>
            <a:r>
              <a:rPr dirty="0"/>
              <a:t> с </a:t>
            </a:r>
            <a:r>
              <a:rPr dirty="0" err="1"/>
              <a:t>пояснениями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Выберите</a:t>
            </a:r>
            <a:r>
              <a:rPr dirty="0"/>
              <a:t> </a:t>
            </a:r>
            <a:r>
              <a:rPr dirty="0" err="1"/>
              <a:t>одну</a:t>
            </a:r>
            <a:r>
              <a:rPr dirty="0"/>
              <a:t> </a:t>
            </a:r>
            <a:r>
              <a:rPr dirty="0" err="1"/>
              <a:t>основную</a:t>
            </a:r>
            <a:r>
              <a:rPr dirty="0"/>
              <a:t> </a:t>
            </a:r>
            <a:r>
              <a:rPr dirty="0" err="1"/>
              <a:t>бизнес-метрику</a:t>
            </a:r>
            <a:r>
              <a:rPr dirty="0"/>
              <a:t> и </a:t>
            </a:r>
            <a:r>
              <a:rPr dirty="0" err="1"/>
              <a:t>подходящую</a:t>
            </a:r>
            <a:r>
              <a:rPr dirty="0"/>
              <a:t> </a:t>
            </a:r>
            <a:r>
              <a:rPr dirty="0" err="1"/>
              <a:t>метрику</a:t>
            </a:r>
            <a:r>
              <a:rPr dirty="0"/>
              <a:t> </a:t>
            </a:r>
            <a:r>
              <a:rPr dirty="0" err="1"/>
              <a:t>качества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. </a:t>
            </a:r>
            <a:r>
              <a:rPr dirty="0" err="1"/>
              <a:t>Дополнительное</a:t>
            </a:r>
            <a:r>
              <a:rPr dirty="0"/>
              <a:t> </a:t>
            </a:r>
            <a:r>
              <a:rPr dirty="0" err="1"/>
              <a:t>ограничение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касаться</a:t>
            </a:r>
            <a:r>
              <a:rPr dirty="0"/>
              <a:t> </a:t>
            </a:r>
            <a:r>
              <a:rPr dirty="0" err="1"/>
              <a:t>стоимости</a:t>
            </a:r>
            <a:r>
              <a:rPr dirty="0"/>
              <a:t>, </a:t>
            </a:r>
            <a:r>
              <a:rPr dirty="0" err="1"/>
              <a:t>скорости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критических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.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исходный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неизвестен</a:t>
            </a:r>
            <a:r>
              <a:rPr dirty="0"/>
              <a:t>, </a:t>
            </a:r>
            <a:r>
              <a:rPr dirty="0" err="1"/>
              <a:t>укажите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измерения</a:t>
            </a:r>
            <a:r>
              <a:rPr lang="ru-RU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Ограничьте</a:t>
            </a:r>
            <a:r>
              <a:rPr dirty="0"/>
              <a:t> </a:t>
            </a:r>
            <a:r>
              <a:rPr dirty="0" err="1"/>
              <a:t>эксперимент</a:t>
            </a:r>
            <a:r>
              <a:rPr dirty="0"/>
              <a:t> </a:t>
            </a:r>
            <a:r>
              <a:rPr dirty="0" err="1"/>
              <a:t>так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проверял</a:t>
            </a:r>
            <a:r>
              <a:rPr dirty="0"/>
              <a:t> </a:t>
            </a:r>
            <a:r>
              <a:rPr dirty="0" err="1"/>
              <a:t>выбранную</a:t>
            </a:r>
            <a:r>
              <a:rPr dirty="0"/>
              <a:t> </a:t>
            </a:r>
            <a:r>
              <a:rPr dirty="0" err="1"/>
              <a:t>гипотезу</a:t>
            </a:r>
            <a:r>
              <a:rPr dirty="0"/>
              <a:t>. </a:t>
            </a:r>
            <a:r>
              <a:rPr dirty="0" err="1"/>
              <a:t>Укажите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и </a:t>
            </a:r>
            <a:r>
              <a:rPr dirty="0" err="1"/>
              <a:t>ограничения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. </a:t>
            </a:r>
            <a:r>
              <a:rPr dirty="0" err="1"/>
              <a:t>Разделите</a:t>
            </a:r>
            <a:r>
              <a:rPr dirty="0"/>
              <a:t> </a:t>
            </a:r>
            <a:r>
              <a:rPr dirty="0" err="1"/>
              <a:t>то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доступно</a:t>
            </a:r>
            <a:r>
              <a:rPr dirty="0"/>
              <a:t>, и </a:t>
            </a:r>
            <a:r>
              <a:rPr dirty="0" err="1"/>
              <a:t>то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предстоит</a:t>
            </a:r>
            <a:r>
              <a:rPr dirty="0"/>
              <a:t> </a:t>
            </a:r>
            <a:r>
              <a:rPr dirty="0" err="1"/>
              <a:t>получить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Вместо</a:t>
            </a:r>
            <a:r>
              <a:rPr dirty="0"/>
              <a:t> </a:t>
            </a:r>
            <a:r>
              <a:rPr dirty="0" err="1"/>
              <a:t>названий</a:t>
            </a:r>
            <a:r>
              <a:rPr dirty="0"/>
              <a:t> </a:t>
            </a:r>
            <a:r>
              <a:rPr dirty="0" err="1"/>
              <a:t>ролей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фактические</a:t>
            </a:r>
            <a:r>
              <a:rPr dirty="0"/>
              <a:t> </a:t>
            </a:r>
            <a:r>
              <a:rPr dirty="0" err="1"/>
              <a:t>должности</a:t>
            </a:r>
            <a:r>
              <a:rPr dirty="0"/>
              <a:t>.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человек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совмещать</a:t>
            </a:r>
            <a:r>
              <a:rPr dirty="0"/>
              <a:t> </a:t>
            </a:r>
            <a:r>
              <a:rPr dirty="0" err="1"/>
              <a:t>роли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ответственность</a:t>
            </a:r>
            <a:r>
              <a:rPr dirty="0"/>
              <a:t>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явной</a:t>
            </a:r>
            <a:r>
              <a:rPr dirty="0"/>
              <a:t>. </a:t>
            </a:r>
            <a:r>
              <a:rPr dirty="0" err="1"/>
              <a:t>Укажите</a:t>
            </a:r>
            <a:r>
              <a:rPr dirty="0"/>
              <a:t> </a:t>
            </a:r>
            <a:r>
              <a:rPr dirty="0" err="1"/>
              <a:t>доступную</a:t>
            </a:r>
            <a:r>
              <a:rPr dirty="0"/>
              <a:t> </a:t>
            </a:r>
            <a:r>
              <a:rPr dirty="0" err="1"/>
              <a:t>загрузку</a:t>
            </a:r>
            <a:r>
              <a:rPr dirty="0"/>
              <a:t> </a:t>
            </a:r>
            <a:r>
              <a:rPr dirty="0" err="1"/>
              <a:t>участников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необходимости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Покажите</a:t>
            </a:r>
            <a:r>
              <a:rPr dirty="0"/>
              <a:t> </a:t>
            </a:r>
            <a:r>
              <a:rPr dirty="0" err="1"/>
              <a:t>даты</a:t>
            </a:r>
            <a:r>
              <a:rPr dirty="0"/>
              <a:t> и </a:t>
            </a:r>
            <a:r>
              <a:rPr dirty="0" err="1"/>
              <a:t>результаты</a:t>
            </a:r>
            <a:r>
              <a:rPr dirty="0"/>
              <a:t> </a:t>
            </a:r>
            <a:r>
              <a:rPr dirty="0" err="1"/>
              <a:t>этапов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перечень</a:t>
            </a:r>
            <a:r>
              <a:rPr dirty="0"/>
              <a:t> </a:t>
            </a:r>
            <a:r>
              <a:rPr dirty="0" err="1"/>
              <a:t>работ</a:t>
            </a:r>
            <a:r>
              <a:rPr dirty="0"/>
              <a:t>. В </a:t>
            </a:r>
            <a:r>
              <a:rPr dirty="0" err="1"/>
              <a:t>бюджет</a:t>
            </a:r>
            <a:r>
              <a:rPr dirty="0"/>
              <a:t> </a:t>
            </a:r>
            <a:r>
              <a:rPr dirty="0" err="1"/>
              <a:t>включите</a:t>
            </a:r>
            <a:r>
              <a:rPr dirty="0"/>
              <a:t> </a:t>
            </a:r>
            <a:r>
              <a:rPr dirty="0" err="1"/>
              <a:t>настройку</a:t>
            </a:r>
            <a:r>
              <a:rPr dirty="0"/>
              <a:t>, </a:t>
            </a:r>
            <a:r>
              <a:rPr dirty="0" err="1"/>
              <a:t>лицензии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API, </a:t>
            </a:r>
            <a:r>
              <a:rPr dirty="0" err="1"/>
              <a:t>вычисления</a:t>
            </a:r>
            <a:r>
              <a:rPr dirty="0"/>
              <a:t> и </a:t>
            </a:r>
            <a:r>
              <a:rPr dirty="0" err="1"/>
              <a:t>трудозатраты</a:t>
            </a:r>
            <a:r>
              <a:rPr dirty="0"/>
              <a:t>. </a:t>
            </a:r>
            <a:r>
              <a:rPr dirty="0" err="1"/>
              <a:t>Укажите</a:t>
            </a:r>
            <a:r>
              <a:rPr dirty="0"/>
              <a:t>,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ресурсы</a:t>
            </a:r>
            <a:r>
              <a:rPr dirty="0"/>
              <a:t> </a:t>
            </a:r>
            <a:r>
              <a:rPr dirty="0" err="1"/>
              <a:t>подтверждены</a:t>
            </a:r>
            <a:r>
              <a:rPr dirty="0"/>
              <a:t>, а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ещё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Выберите</a:t>
            </a:r>
            <a:r>
              <a:rPr dirty="0"/>
              <a:t> </a:t>
            </a:r>
            <a:r>
              <a:rPr dirty="0" err="1"/>
              <a:t>наиболее</a:t>
            </a:r>
            <a:r>
              <a:rPr dirty="0"/>
              <a:t> </a:t>
            </a:r>
            <a:r>
              <a:rPr dirty="0" err="1"/>
              <a:t>существенные</a:t>
            </a:r>
            <a:r>
              <a:rPr dirty="0"/>
              <a:t> </a:t>
            </a:r>
            <a:r>
              <a:rPr dirty="0" err="1"/>
              <a:t>риски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вашего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. </a:t>
            </a:r>
            <a:r>
              <a:rPr dirty="0" err="1"/>
              <a:t>Заранее</a:t>
            </a:r>
            <a:r>
              <a:rPr dirty="0"/>
              <a:t> </a:t>
            </a:r>
            <a:r>
              <a:rPr dirty="0" err="1"/>
              <a:t>определите</a:t>
            </a:r>
            <a:r>
              <a:rPr dirty="0"/>
              <a:t> </a:t>
            </a:r>
            <a:r>
              <a:rPr dirty="0" err="1"/>
              <a:t>пороги</a:t>
            </a:r>
            <a:r>
              <a:rPr dirty="0"/>
              <a:t> </a:t>
            </a:r>
            <a:r>
              <a:rPr dirty="0" err="1"/>
              <a:t>трёх</a:t>
            </a:r>
            <a:r>
              <a:rPr dirty="0"/>
              <a:t> </a:t>
            </a:r>
            <a:r>
              <a:rPr dirty="0" err="1"/>
              <a:t>решений</a:t>
            </a:r>
            <a:r>
              <a:rPr dirty="0"/>
              <a:t>, </a:t>
            </a:r>
            <a:r>
              <a:rPr dirty="0" err="1"/>
              <a:t>дату</a:t>
            </a:r>
            <a:r>
              <a:rPr dirty="0"/>
              <a:t> </a:t>
            </a:r>
            <a:r>
              <a:rPr dirty="0" err="1"/>
              <a:t>оценки</a:t>
            </a:r>
            <a:r>
              <a:rPr dirty="0"/>
              <a:t> и </a:t>
            </a:r>
            <a:r>
              <a:rPr dirty="0" err="1"/>
              <a:t>того</a:t>
            </a:r>
            <a:r>
              <a:rPr dirty="0"/>
              <a:t>, </a:t>
            </a:r>
            <a:r>
              <a:rPr dirty="0" err="1"/>
              <a:t>кто</a:t>
            </a:r>
            <a:r>
              <a:rPr dirty="0"/>
              <a:t> </a:t>
            </a:r>
            <a:r>
              <a:rPr dirty="0" err="1"/>
              <a:t>принимает</a:t>
            </a:r>
            <a:r>
              <a:rPr dirty="0"/>
              <a:t> </a:t>
            </a:r>
            <a:r>
              <a:rPr dirty="0" err="1"/>
              <a:t>решение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6;p6"/>
          <p:cNvSpPr txBox="1"/>
          <p:nvPr/>
        </p:nvSpPr>
        <p:spPr>
          <a:xfrm>
            <a:off x="8742493" y="5217934"/>
            <a:ext cx="3065033" cy="257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04" rIns="0" bIns="0" anchor="t" anchorCtr="0">
            <a:spAutoFit/>
          </a:bodyPr>
          <a:lstStyle/>
          <a:p>
            <a:pPr marL="7701">
              <a:lnSpc>
                <a:spcPct val="82812"/>
              </a:lnSpc>
              <a:buClr>
                <a:srgbClr val="000000"/>
              </a:buClr>
              <a:buSzPts val="3200"/>
            </a:pPr>
            <a:r>
              <a:rPr lang="ru-RU" sz="194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ФИО полностью</a:t>
            </a:r>
            <a:endParaRPr sz="1941" dirty="0">
              <a:solidFill>
                <a:schemeClr val="bg1"/>
              </a:solidFill>
              <a:latin typeface="Aptos" panose="020B0004020202020204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77;p6"/>
          <p:cNvSpPr txBox="1"/>
          <p:nvPr/>
        </p:nvSpPr>
        <p:spPr>
          <a:xfrm>
            <a:off x="694603" y="795563"/>
            <a:ext cx="10623207" cy="1558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75000"/>
              </a:lnSpc>
            </a:pPr>
            <a:r>
              <a:rPr lang="ru-RU" sz="3638" b="1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Итоговый проект по программе</a:t>
            </a:r>
          </a:p>
          <a:p>
            <a:pPr lvl="0">
              <a:lnSpc>
                <a:spcPct val="75000"/>
              </a:lnSpc>
            </a:pPr>
            <a:r>
              <a:rPr lang="ru-RU" sz="3638" b="1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«Системный аналитик промышленных цифровых решений: проектирование, </a:t>
            </a:r>
            <a:r>
              <a:rPr lang="ru-RU" sz="3638" b="1" dirty="0" err="1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прототипирование</a:t>
            </a:r>
            <a:r>
              <a:rPr lang="ru-RU" sz="3638" b="1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, </a:t>
            </a:r>
            <a:r>
              <a:rPr lang="ru-RU" sz="3638" b="1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бизнес-эффекты»</a:t>
            </a:r>
            <a:endParaRPr sz="849" b="1" dirty="0">
              <a:solidFill>
                <a:schemeClr val="bg1"/>
              </a:solidFill>
              <a:latin typeface="Aptos" panose="020B0004020202020204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9" name="Google Shape;178;p6"/>
          <p:cNvSpPr txBox="1"/>
          <p:nvPr/>
        </p:nvSpPr>
        <p:spPr>
          <a:xfrm>
            <a:off x="756068" y="5217934"/>
            <a:ext cx="6049144" cy="1041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32" tIns="27709" rIns="55432" bIns="27709" anchor="t" anchorCtr="0">
            <a:spAutoFit/>
          </a:bodyPr>
          <a:lstStyle/>
          <a:p>
            <a:pPr>
              <a:lnSpc>
                <a:spcPct val="75000"/>
              </a:lnSpc>
              <a:buClr>
                <a:srgbClr val="000000"/>
              </a:buClr>
              <a:buSzPts val="3200"/>
            </a:pPr>
            <a:r>
              <a:rPr lang="ru-RU" sz="1941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Поток </a:t>
            </a:r>
            <a:r>
              <a:rPr lang="ru-RU" sz="1941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СА 102</a:t>
            </a:r>
            <a:endParaRPr lang="ru-RU" sz="1941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>
              <a:lnSpc>
                <a:spcPct val="75000"/>
              </a:lnSpc>
              <a:spcAft>
                <a:spcPts val="728"/>
              </a:spcAft>
              <a:buClr>
                <a:srgbClr val="000000"/>
              </a:buClr>
              <a:buSzPts val="3200"/>
            </a:pPr>
            <a:r>
              <a:rPr lang="ru-RU" sz="1941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Даты </a:t>
            </a:r>
            <a:r>
              <a:rPr lang="ru-RU" sz="1941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обучения: 31 августа </a:t>
            </a:r>
            <a:r>
              <a:rPr lang="en-US" sz="1941" dirty="0">
                <a:solidFill>
                  <a:schemeClr val="bg1"/>
                </a:solidFill>
                <a:latin typeface="Aptos" panose="020B0004020202020204"/>
                <a:ea typeface="Calibri"/>
                <a:cs typeface="Calibri" panose="020F0502020204030204" pitchFamily="34" charset="0"/>
                <a:sym typeface="Calibri"/>
              </a:rPr>
              <a:t>202</a:t>
            </a:r>
            <a:r>
              <a:rPr lang="ru-RU" sz="1941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6 – </a:t>
            </a:r>
            <a:r>
              <a:rPr lang="ru-RU" sz="1941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28 сентября </a:t>
            </a:r>
            <a:r>
              <a:rPr lang="ru-RU" sz="1941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2026</a:t>
            </a:r>
          </a:p>
          <a:p>
            <a:pPr>
              <a:lnSpc>
                <a:spcPct val="75000"/>
              </a:lnSpc>
              <a:buClr>
                <a:srgbClr val="000000"/>
              </a:buClr>
              <a:buSzPts val="3200"/>
            </a:pPr>
            <a:r>
              <a:rPr lang="ru-RU" sz="1941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Программа реализуется в рамках федерального проекта «Содействие занятости»</a:t>
            </a:r>
            <a:endParaRPr sz="1941" dirty="0">
              <a:solidFill>
                <a:schemeClr val="bg1"/>
              </a:solidFill>
              <a:latin typeface="Aptos" panose="020B0004020202020204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" name="Google Shape;179;p6"/>
          <p:cNvSpPr txBox="1"/>
          <p:nvPr/>
        </p:nvSpPr>
        <p:spPr>
          <a:xfrm>
            <a:off x="756069" y="3251061"/>
            <a:ext cx="8143088" cy="53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32" tIns="27709" rIns="55432" bIns="27709" anchor="t" anchorCtr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910" dirty="0">
                <a:solidFill>
                  <a:schemeClr val="bg1"/>
                </a:solidFill>
                <a:latin typeface="Aptos" panose="020B0004020202020204"/>
                <a:ea typeface="Calibri"/>
                <a:cs typeface="Calibri" panose="020F0502020204030204" pitchFamily="34" charset="0"/>
                <a:sym typeface="Calibri"/>
              </a:rPr>
              <a:t>[</a:t>
            </a:r>
            <a:r>
              <a:rPr lang="ru-RU" sz="291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ТЕМА ПРОЕКТА</a:t>
            </a:r>
            <a:r>
              <a:rPr lang="en-US" sz="2910" dirty="0">
                <a:solidFill>
                  <a:schemeClr val="bg1"/>
                </a:solidFill>
                <a:latin typeface="Aptos" panose="020B0004020202020204"/>
                <a:ea typeface="Calibri"/>
                <a:cs typeface="Calibri" panose="020F0502020204030204" pitchFamily="34" charset="0"/>
                <a:sym typeface="Calibri"/>
              </a:rPr>
              <a:t>]</a:t>
            </a:r>
            <a:endParaRPr sz="2910" dirty="0">
              <a:solidFill>
                <a:schemeClr val="bg1"/>
              </a:solidFill>
              <a:latin typeface="Aptos" panose="020B0004020202020204"/>
              <a:ea typeface="Calibri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7567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F9B4ECC-A194-4EDE-A400-8AEB6BB6F3F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07F79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007F79"/>
                </a:solidFill>
                <a:latin typeface="Aptos"/>
                <a:ea typeface="Aptos"/>
                <a:cs typeface="Aptos"/>
              </a:rPr>
              <a:t>01 / БИЗНЕС-ЗАДАЧА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25319EC-07D3-4BC1-8E14-D1537F3E5B0F}"/>
              </a:ext>
            </a:extLst>
          </p:cNvPr>
          <p:cNvSpPr>
            <a:spLocks noGrp="1"/>
          </p:cNvSpPr>
          <p:nvPr/>
        </p:nvSpPr>
        <p:spPr>
          <a:xfrm>
            <a:off x="609600" y="885825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3450" b="1" dirty="0" err="1">
                <a:solidFill>
                  <a:srgbClr val="163746"/>
                </a:solidFill>
                <a:latin typeface="Aptos"/>
                <a:ea typeface="Aptos"/>
                <a:cs typeface="Aptos"/>
              </a:rPr>
              <a:t>Бизнес-задача</a:t>
            </a:r>
            <a:endParaRPr sz="3450" b="1" dirty="0">
              <a:solidFill>
                <a:srgbClr val="16374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DF89314-D1E9-4733-B143-90F14E62B8AD}"/>
              </a:ext>
            </a:extLst>
          </p:cNvPr>
          <p:cNvSpPr>
            <a:spLocks noGrp="1"/>
          </p:cNvSpPr>
          <p:nvPr/>
        </p:nvSpPr>
        <p:spPr>
          <a:xfrm>
            <a:off x="11049000" y="6229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479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9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E424363-A872-4B77-A669-3A656071B215}"/>
              </a:ext>
            </a:extLst>
          </p:cNvPr>
          <p:cNvSpPr>
            <a:spLocks noGrp="1"/>
          </p:cNvSpPr>
          <p:nvPr/>
        </p:nvSpPr>
        <p:spPr>
          <a:xfrm>
            <a:off x="609600" y="1971675"/>
            <a:ext cx="106680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2625" b="1" dirty="0">
                <a:solidFill>
                  <a:srgbClr val="163746"/>
                </a:solidFill>
                <a:latin typeface="Aptos"/>
                <a:ea typeface="Aptos"/>
                <a:cs typeface="Aptos"/>
              </a:rPr>
              <a:t>[</a:t>
            </a:r>
            <a:r>
              <a:rPr sz="2625" b="1" dirty="0" err="1">
                <a:solidFill>
                  <a:srgbClr val="163746"/>
                </a:solidFill>
                <a:latin typeface="Aptos"/>
                <a:ea typeface="Aptos"/>
                <a:cs typeface="Aptos"/>
              </a:rPr>
              <a:t>Одна</a:t>
            </a:r>
            <a:r>
              <a:rPr sz="2625" b="1" dirty="0">
                <a:solidFill>
                  <a:srgbClr val="163746"/>
                </a:solidFill>
                <a:latin typeface="Aptos"/>
                <a:ea typeface="Aptos"/>
                <a:cs typeface="Aptos"/>
              </a:rPr>
              <a:t> </a:t>
            </a:r>
            <a:r>
              <a:rPr sz="2625" b="1" dirty="0" err="1">
                <a:solidFill>
                  <a:srgbClr val="163746"/>
                </a:solidFill>
                <a:latin typeface="Aptos"/>
                <a:ea typeface="Aptos"/>
                <a:cs typeface="Aptos"/>
              </a:rPr>
              <a:t>конкретная</a:t>
            </a:r>
            <a:r>
              <a:rPr sz="2625" b="1" dirty="0">
                <a:solidFill>
                  <a:srgbClr val="163746"/>
                </a:solidFill>
                <a:latin typeface="Aptos"/>
                <a:ea typeface="Aptos"/>
                <a:cs typeface="Aptos"/>
              </a:rPr>
              <a:t> </a:t>
            </a:r>
            <a:r>
              <a:rPr sz="2625" b="1" dirty="0" err="1">
                <a:solidFill>
                  <a:srgbClr val="163746"/>
                </a:solidFill>
                <a:latin typeface="Aptos"/>
                <a:ea typeface="Aptos"/>
                <a:cs typeface="Aptos"/>
              </a:rPr>
              <a:t>проблема</a:t>
            </a:r>
            <a:r>
              <a:rPr sz="2625" b="1" dirty="0">
                <a:solidFill>
                  <a:srgbClr val="163746"/>
                </a:solidFill>
                <a:latin typeface="Aptos"/>
                <a:ea typeface="Aptos"/>
                <a:cs typeface="Aptos"/>
              </a:rPr>
              <a:t> в </a:t>
            </a:r>
            <a:r>
              <a:rPr sz="2625" b="1" dirty="0" err="1">
                <a:solidFill>
                  <a:srgbClr val="163746"/>
                </a:solidFill>
                <a:latin typeface="Aptos"/>
                <a:ea typeface="Aptos"/>
                <a:cs typeface="Aptos"/>
              </a:rPr>
              <a:t>одном</a:t>
            </a:r>
            <a:r>
              <a:rPr sz="2625" b="1" dirty="0">
                <a:solidFill>
                  <a:srgbClr val="163746"/>
                </a:solidFill>
                <a:latin typeface="Aptos"/>
                <a:ea typeface="Aptos"/>
                <a:cs typeface="Aptos"/>
              </a:rPr>
              <a:t> </a:t>
            </a:r>
            <a:r>
              <a:rPr sz="2625" b="1" dirty="0" err="1">
                <a:solidFill>
                  <a:srgbClr val="163746"/>
                </a:solidFill>
                <a:latin typeface="Aptos"/>
                <a:ea typeface="Aptos"/>
                <a:cs typeface="Aptos"/>
              </a:rPr>
              <a:t>процессе</a:t>
            </a:r>
            <a:r>
              <a:rPr lang="ru-RU" sz="2625" b="1" dirty="0">
                <a:solidFill>
                  <a:srgbClr val="163746"/>
                </a:solidFill>
                <a:latin typeface="Aptos"/>
                <a:ea typeface="Aptos"/>
                <a:cs typeface="Aptos"/>
              </a:rPr>
              <a:t>,</a:t>
            </a:r>
            <a:r>
              <a:rPr lang="en-US" sz="2625" b="1" dirty="0">
                <a:solidFill>
                  <a:srgbClr val="163746"/>
                </a:solidFill>
                <a:latin typeface="Aptos"/>
                <a:ea typeface="Aptos"/>
                <a:cs typeface="Aptos"/>
              </a:rPr>
              <a:t> </a:t>
            </a:r>
            <a:r>
              <a:rPr lang="ru-RU" sz="2800" b="1" dirty="0">
                <a:solidFill>
                  <a:srgbClr val="0A4A5C"/>
                </a:solidFill>
                <a:ea typeface="Tahoma" pitchFamily="34" charset="0"/>
                <a:cs typeface="Tahoma" pitchFamily="34" charset="0"/>
                <a:sym typeface="Montserrat"/>
              </a:rPr>
              <a:t>описание проблемной ситуации</a:t>
            </a:r>
            <a:r>
              <a:rPr sz="2625" b="1" dirty="0">
                <a:solidFill>
                  <a:srgbClr val="163746"/>
                </a:solidFill>
                <a:latin typeface="Aptos"/>
                <a:ea typeface="Aptos"/>
                <a:cs typeface="Aptos"/>
              </a:rPr>
              <a:t>]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175D76B-58EF-4C5B-ABEB-F2EB670142A6}"/>
              </a:ext>
            </a:extLst>
          </p:cNvPr>
          <p:cNvSpPr>
            <a:spLocks noGrp="1"/>
          </p:cNvSpPr>
          <p:nvPr/>
        </p:nvSpPr>
        <p:spPr>
          <a:xfrm>
            <a:off x="609600" y="31527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7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7F79"/>
                </a:solidFill>
                <a:latin typeface="Aptos"/>
                <a:ea typeface="Aptos"/>
                <a:cs typeface="Aptos"/>
              </a:rPr>
              <a:t>Как работает процесс сейчас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A62EA92-4BC2-4625-B92A-98F976AEC78A}"/>
              </a:ext>
            </a:extLst>
          </p:cNvPr>
          <p:cNvSpPr>
            <a:spLocks noGrp="1"/>
          </p:cNvSpPr>
          <p:nvPr/>
        </p:nvSpPr>
        <p:spPr>
          <a:xfrm>
            <a:off x="609600" y="3609975"/>
            <a:ext cx="4953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1950" b="0" dirty="0">
                <a:solidFill>
                  <a:srgbClr val="163746"/>
                </a:solidFill>
                <a:latin typeface="Aptos"/>
                <a:ea typeface="Aptos"/>
                <a:cs typeface="Aptos"/>
              </a:rPr>
              <a:t>[</a:t>
            </a:r>
            <a:r>
              <a:rPr sz="1950" b="0" dirty="0" err="1">
                <a:solidFill>
                  <a:srgbClr val="163746"/>
                </a:solidFill>
                <a:latin typeface="Aptos"/>
                <a:ea typeface="Aptos"/>
                <a:cs typeface="Aptos"/>
              </a:rPr>
              <a:t>Кто</a:t>
            </a:r>
            <a:r>
              <a:rPr sz="1950" b="0" dirty="0">
                <a:solidFill>
                  <a:srgbClr val="163746"/>
                </a:solidFill>
                <a:latin typeface="Aptos"/>
                <a:ea typeface="Aptos"/>
                <a:cs typeface="Aptos"/>
              </a:rPr>
              <a:t> </a:t>
            </a:r>
            <a:r>
              <a:rPr sz="1950" b="0" dirty="0" err="1">
                <a:solidFill>
                  <a:srgbClr val="163746"/>
                </a:solidFill>
                <a:latin typeface="Aptos"/>
                <a:ea typeface="Aptos"/>
                <a:cs typeface="Aptos"/>
              </a:rPr>
              <a:t>выполняет</a:t>
            </a:r>
            <a:r>
              <a:rPr sz="1950" b="0" dirty="0">
                <a:solidFill>
                  <a:srgbClr val="163746"/>
                </a:solidFill>
                <a:latin typeface="Aptos"/>
                <a:ea typeface="Aptos"/>
                <a:cs typeface="Aptos"/>
              </a:rPr>
              <a:t> </a:t>
            </a:r>
            <a:r>
              <a:rPr sz="1950" b="0" dirty="0" err="1">
                <a:solidFill>
                  <a:srgbClr val="163746"/>
                </a:solidFill>
                <a:latin typeface="Aptos"/>
                <a:ea typeface="Aptos"/>
                <a:cs typeface="Aptos"/>
              </a:rPr>
              <a:t>задачу</a:t>
            </a:r>
            <a:r>
              <a:rPr sz="1950" b="0" dirty="0">
                <a:solidFill>
                  <a:srgbClr val="163746"/>
                </a:solidFill>
                <a:latin typeface="Aptos"/>
                <a:ea typeface="Aptos"/>
                <a:cs typeface="Aptos"/>
              </a:rPr>
              <a:t>, </a:t>
            </a:r>
            <a:r>
              <a:rPr sz="1950" b="0" dirty="0" err="1">
                <a:solidFill>
                  <a:srgbClr val="163746"/>
                </a:solidFill>
                <a:latin typeface="Aptos"/>
                <a:ea typeface="Aptos"/>
                <a:cs typeface="Aptos"/>
              </a:rPr>
              <a:t>какие</a:t>
            </a:r>
            <a:r>
              <a:rPr sz="1950" b="0" dirty="0">
                <a:solidFill>
                  <a:srgbClr val="163746"/>
                </a:solidFill>
                <a:latin typeface="Aptos"/>
                <a:ea typeface="Aptos"/>
                <a:cs typeface="Aptos"/>
              </a:rPr>
              <a:t> </a:t>
            </a:r>
            <a:r>
              <a:rPr sz="1950" b="0" dirty="0" err="1">
                <a:solidFill>
                  <a:srgbClr val="163746"/>
                </a:solidFill>
                <a:latin typeface="Aptos"/>
                <a:ea typeface="Aptos"/>
                <a:cs typeface="Aptos"/>
              </a:rPr>
              <a:t>действия</a:t>
            </a:r>
            <a:endParaRPr sz="1950" b="0" dirty="0">
              <a:solidFill>
                <a:srgbClr val="163746"/>
              </a:solidFill>
              <a:latin typeface="Aptos"/>
              <a:ea typeface="Aptos"/>
              <a:cs typeface="Aptos"/>
            </a:endParaRPr>
          </a:p>
          <a:p>
            <a:pPr>
              <a:defRPr sz="1950" b="0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1950" b="0" dirty="0" err="1">
                <a:solidFill>
                  <a:srgbClr val="163746"/>
                </a:solidFill>
                <a:latin typeface="Aptos"/>
                <a:ea typeface="Aptos"/>
                <a:cs typeface="Aptos"/>
              </a:rPr>
              <a:t>занимают</a:t>
            </a:r>
            <a:r>
              <a:rPr sz="1950" b="0" dirty="0">
                <a:solidFill>
                  <a:srgbClr val="163746"/>
                </a:solidFill>
                <a:latin typeface="Aptos"/>
                <a:ea typeface="Aptos"/>
                <a:cs typeface="Aptos"/>
              </a:rPr>
              <a:t> </a:t>
            </a:r>
            <a:r>
              <a:rPr sz="1950" b="0" dirty="0" err="1">
                <a:solidFill>
                  <a:srgbClr val="163746"/>
                </a:solidFill>
                <a:latin typeface="Aptos"/>
                <a:ea typeface="Aptos"/>
                <a:cs typeface="Aptos"/>
              </a:rPr>
              <a:t>время</a:t>
            </a:r>
            <a:r>
              <a:rPr sz="1950" b="0" dirty="0">
                <a:solidFill>
                  <a:srgbClr val="163746"/>
                </a:solidFill>
                <a:latin typeface="Aptos"/>
                <a:ea typeface="Aptos"/>
                <a:cs typeface="Aptos"/>
              </a:rPr>
              <a:t> и </a:t>
            </a:r>
            <a:r>
              <a:rPr sz="1950" b="0" dirty="0" err="1">
                <a:solidFill>
                  <a:srgbClr val="163746"/>
                </a:solidFill>
                <a:latin typeface="Aptos"/>
                <a:ea typeface="Aptos"/>
                <a:cs typeface="Aptos"/>
              </a:rPr>
              <a:t>где</a:t>
            </a:r>
            <a:r>
              <a:rPr sz="1950" b="0" dirty="0">
                <a:solidFill>
                  <a:srgbClr val="163746"/>
                </a:solidFill>
                <a:latin typeface="Aptos"/>
                <a:ea typeface="Aptos"/>
                <a:cs typeface="Aptos"/>
              </a:rPr>
              <a:t> </a:t>
            </a:r>
            <a:r>
              <a:rPr sz="1950" b="0" dirty="0" err="1">
                <a:solidFill>
                  <a:srgbClr val="163746"/>
                </a:solidFill>
                <a:latin typeface="Aptos"/>
                <a:ea typeface="Aptos"/>
                <a:cs typeface="Aptos"/>
              </a:rPr>
              <a:t>возникают</a:t>
            </a:r>
            <a:r>
              <a:rPr sz="1950" b="0" dirty="0">
                <a:solidFill>
                  <a:srgbClr val="163746"/>
                </a:solidFill>
                <a:latin typeface="Aptos"/>
                <a:ea typeface="Aptos"/>
                <a:cs typeface="Aptos"/>
              </a:rPr>
              <a:t> </a:t>
            </a:r>
            <a:r>
              <a:rPr sz="1950" b="0" dirty="0" err="1">
                <a:solidFill>
                  <a:srgbClr val="163746"/>
                </a:solidFill>
                <a:latin typeface="Aptos"/>
                <a:ea typeface="Aptos"/>
                <a:cs typeface="Aptos"/>
              </a:rPr>
              <a:t>ошибки</a:t>
            </a:r>
            <a:r>
              <a:rPr sz="1950" b="0" dirty="0">
                <a:solidFill>
                  <a:srgbClr val="163746"/>
                </a:solidFill>
                <a:latin typeface="Aptos"/>
                <a:ea typeface="Aptos"/>
                <a:cs typeface="Aptos"/>
              </a:rPr>
              <a:t>]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243AAF2-7837-4430-B269-F407301823FF}"/>
              </a:ext>
            </a:extLst>
          </p:cNvPr>
          <p:cNvSpPr>
            <a:spLocks noGrp="1"/>
          </p:cNvSpPr>
          <p:nvPr/>
        </p:nvSpPr>
        <p:spPr>
          <a:xfrm>
            <a:off x="6362700" y="31527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7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7F79"/>
                </a:solidFill>
                <a:latin typeface="Aptos"/>
                <a:ea typeface="Aptos"/>
                <a:cs typeface="Aptos"/>
              </a:rPr>
              <a:t>Почему это важно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F35CEDC-9ED9-4861-8F00-3AC4AD69E5E8}"/>
              </a:ext>
            </a:extLst>
          </p:cNvPr>
          <p:cNvSpPr>
            <a:spLocks noGrp="1"/>
          </p:cNvSpPr>
          <p:nvPr/>
        </p:nvSpPr>
        <p:spPr>
          <a:xfrm>
            <a:off x="6362700" y="3609975"/>
            <a:ext cx="4953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63746"/>
                </a:solidFill>
                <a:latin typeface="Aptos"/>
                <a:ea typeface="Aptos"/>
                <a:cs typeface="Aptos"/>
              </a:rPr>
              <a:t>[Потери времени, денег или качества]</a:t>
            </a:r>
          </a:p>
          <a:p>
            <a:pPr>
              <a:defRPr sz="1950" b="0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63746"/>
                </a:solidFill>
                <a:latin typeface="Aptos"/>
                <a:ea typeface="Aptos"/>
                <a:cs typeface="Aptos"/>
              </a:rPr>
              <a:t>[Кого затрагивает проблема]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B38FF9E-7D51-459B-8D5E-73055C5D4979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479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985"/>
                </a:solidFill>
                <a:latin typeface="Aptos"/>
                <a:ea typeface="Aptos"/>
                <a:cs typeface="Aptos"/>
              </a:rPr>
              <a:t>Подтверждение проблемы: [замер / интервью / выгрузка, период и объём].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BB1604-644E-C58A-EC00-3A9A867C070A}"/>
              </a:ext>
            </a:extLst>
          </p:cNvPr>
          <p:cNvSpPr txBox="1"/>
          <p:nvPr/>
        </p:nvSpPr>
        <p:spPr>
          <a:xfrm>
            <a:off x="2728112" y="4718317"/>
            <a:ext cx="6111088" cy="336016"/>
          </a:xfrm>
          <a:prstGeom prst="rect">
            <a:avLst/>
          </a:prstGeom>
          <a:noFill/>
        </p:spPr>
        <p:txBody>
          <a:bodyPr wrap="square" lIns="43205" tIns="21603" rIns="43205" bIns="21603" rtlCol="0">
            <a:spAutoFit/>
          </a:bodyPr>
          <a:lstStyle/>
          <a:p>
            <a:pPr algn="ctr"/>
            <a:r>
              <a:rPr lang="ru-RU" sz="1900" dirty="0">
                <a:latin typeface="Aptos" panose="020B0004020202020204" pitchFamily="34" charset="0"/>
                <a:ea typeface="Tahoma" pitchFamily="34" charset="0"/>
                <a:cs typeface="Tahoma" pitchFamily="34" charset="0"/>
              </a:rPr>
              <a:t>Приветствуются цифры и точные данные!</a:t>
            </a:r>
          </a:p>
        </p:txBody>
      </p:sp>
    </p:spTree>
    <p:extLst>
      <p:ext uri="{BB962C8B-B14F-4D97-AF65-F5344CB8AC3E}">
        <p14:creationId xmlns:p14="http://schemas.microsoft.com/office/powerpoint/2010/main" val="2010979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76D891-BC01-A7BC-DE2F-0F09FFBE759B}"/>
              </a:ext>
            </a:extLst>
          </p:cNvPr>
          <p:cNvSpPr txBox="1"/>
          <p:nvPr/>
        </p:nvSpPr>
        <p:spPr>
          <a:xfrm>
            <a:off x="642977" y="593158"/>
            <a:ext cx="60975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Контекст</a:t>
            </a:r>
            <a:r>
              <a:rPr lang="en-US" sz="2200" b="1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2200" b="1" dirty="0" err="1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рамка</a:t>
            </a:r>
            <a:r>
              <a:rPr lang="en-US" sz="2200" b="1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проекта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FA008-4F94-89EF-B5EB-CBED38D1BD6F}"/>
              </a:ext>
            </a:extLst>
          </p:cNvPr>
          <p:cNvSpPr txBox="1"/>
          <p:nvPr/>
        </p:nvSpPr>
        <p:spPr>
          <a:xfrm>
            <a:off x="642977" y="1383144"/>
            <a:ext cx="10142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Коротко</a:t>
            </a:r>
            <a:r>
              <a:rPr lang="en-US" sz="1400" dirty="0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зафиксируйте</a:t>
            </a:r>
            <a:r>
              <a:rPr lang="en-US" sz="1400" dirty="0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400" dirty="0" err="1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что</a:t>
            </a:r>
            <a:r>
              <a:rPr lang="en-US" sz="1400" dirty="0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именно</a:t>
            </a:r>
            <a:r>
              <a:rPr lang="en-US" sz="1400" dirty="0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должно</a:t>
            </a:r>
            <a:r>
              <a:rPr lang="en-US" sz="1400" dirty="0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быть</a:t>
            </a:r>
            <a:r>
              <a:rPr lang="en-US" sz="1400" dirty="0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изучено</a:t>
            </a:r>
            <a:r>
              <a:rPr lang="en-US" sz="1400" dirty="0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1400" dirty="0" err="1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что</a:t>
            </a:r>
            <a:r>
              <a:rPr lang="en-US" sz="1400" dirty="0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команда</a:t>
            </a:r>
            <a:r>
              <a:rPr lang="en-US" sz="1400" dirty="0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отдаст</a:t>
            </a:r>
            <a:r>
              <a:rPr lang="en-US" sz="1400" dirty="0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sz="1400" dirty="0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выходе</a:t>
            </a:r>
            <a:r>
              <a:rPr lang="en-US" sz="1400" dirty="0">
                <a:solidFill>
                  <a:srgbClr val="64798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C75F97-6DD5-6891-F122-27255CB6E289}"/>
              </a:ext>
            </a:extLst>
          </p:cNvPr>
          <p:cNvSpPr txBox="1"/>
          <p:nvPr/>
        </p:nvSpPr>
        <p:spPr>
          <a:xfrm>
            <a:off x="642977" y="1978233"/>
            <a:ext cx="12969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>
                <a:solidFill>
                  <a:srgbClr val="007F79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ru-RU" sz="1600" dirty="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8FDC3C-6383-8688-8E9F-99F6C0460550}"/>
              </a:ext>
            </a:extLst>
          </p:cNvPr>
          <p:cNvSpPr txBox="1"/>
          <p:nvPr/>
        </p:nvSpPr>
        <p:spPr>
          <a:xfrm>
            <a:off x="642977" y="2380910"/>
            <a:ext cx="31821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[</a:t>
            </a:r>
            <a:r>
              <a:rPr lang="en-US" sz="1600" dirty="0" err="1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Где</a:t>
            </a:r>
            <a:r>
              <a:rPr lang="en-US" sz="1600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и в </a:t>
            </a:r>
            <a:r>
              <a:rPr lang="en-US" sz="1600" dirty="0" err="1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каком</a:t>
            </a:r>
            <a:r>
              <a:rPr lang="en-US" sz="1600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сценарии</a:t>
            </a:r>
            <a:r>
              <a:rPr lang="en-US" sz="1600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возникает</a:t>
            </a:r>
            <a:r>
              <a:rPr lang="en-US" sz="1600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проблема</a:t>
            </a:r>
            <a:r>
              <a:rPr lang="en-US" sz="1600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600" dirty="0">
              <a:latin typeface="Aptos" panose="020B0004020202020204" pitchFamily="34" charset="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[</a:t>
            </a:r>
            <a:r>
              <a:rPr lang="en-US" sz="1600" dirty="0" err="1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Как</a:t>
            </a:r>
            <a:r>
              <a:rPr lang="en-US" sz="1600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устроен</a:t>
            </a:r>
            <a:r>
              <a:rPr lang="en-US" sz="1600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процесс</a:t>
            </a:r>
            <a:r>
              <a:rPr lang="en-US" sz="1600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1600" dirty="0" err="1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поток</a:t>
            </a:r>
            <a:r>
              <a:rPr lang="en-US" sz="1600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ценности</a:t>
            </a:r>
            <a:r>
              <a:rPr lang="en-US" sz="1600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BF88099-4F69-C461-CECB-5B168E0E2A9D}"/>
              </a:ext>
            </a:extLst>
          </p:cNvPr>
          <p:cNvSpPr/>
          <p:nvPr/>
        </p:nvSpPr>
        <p:spPr>
          <a:xfrm>
            <a:off x="4344124" y="205982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F79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Аналитическая цель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DA1DE2AE-D537-9B0B-38A5-470E3C69F397}"/>
              </a:ext>
            </a:extLst>
          </p:cNvPr>
          <p:cNvSpPr/>
          <p:nvPr/>
        </p:nvSpPr>
        <p:spPr>
          <a:xfrm>
            <a:off x="4416552" y="2380910"/>
            <a:ext cx="3182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[Что нужно узнать, определить или проверить, чтобы проблема была решена]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6F11808-B40B-020C-51FC-301D53B57D28}"/>
              </a:ext>
            </a:extLst>
          </p:cNvPr>
          <p:cNvSpPr/>
          <p:nvPr/>
        </p:nvSpPr>
        <p:spPr>
          <a:xfrm>
            <a:off x="8229600" y="205982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F79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Стейкхолдеры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1725802F-13C0-826A-41C4-95E84230BE98}"/>
              </a:ext>
            </a:extLst>
          </p:cNvPr>
          <p:cNvSpPr/>
          <p:nvPr/>
        </p:nvSpPr>
        <p:spPr>
          <a:xfrm>
            <a:off x="8229600" y="2368296"/>
            <a:ext cx="3182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[Заказчик]</a:t>
            </a:r>
            <a:endParaRPr lang="en-US" sz="1600" dirty="0">
              <a:latin typeface="Aptos" panose="020B0004020202020204" pitchFamily="34" charset="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[Пользователи]</a:t>
            </a:r>
            <a:endParaRPr lang="en-US" sz="1600" dirty="0">
              <a:latin typeface="Aptos" panose="020B0004020202020204" pitchFamily="34" charset="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[Кто принимает результат]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68D179AE-5A0E-CA48-36BD-CE5076AA823C}"/>
              </a:ext>
            </a:extLst>
          </p:cNvPr>
          <p:cNvSpPr/>
          <p:nvPr/>
        </p:nvSpPr>
        <p:spPr>
          <a:xfrm>
            <a:off x="753792" y="389932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F79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Входные данные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EB19CDE5-4AA3-30E3-5B1E-47CFCA689B50}"/>
              </a:ext>
            </a:extLst>
          </p:cNvPr>
          <p:cNvSpPr/>
          <p:nvPr/>
        </p:nvSpPr>
        <p:spPr>
          <a:xfrm>
            <a:off x="762845" y="4300787"/>
            <a:ext cx="3182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[Какие данные уже известны / доступны]</a:t>
            </a:r>
            <a:endParaRPr lang="en-US" sz="1600" dirty="0">
              <a:latin typeface="Aptos" panose="020B0004020202020204" pitchFamily="34" charset="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[Источник, формат, объём]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3B01BD82-D32B-641F-9A06-46D1FF15C5FD}"/>
              </a:ext>
            </a:extLst>
          </p:cNvPr>
          <p:cNvSpPr/>
          <p:nvPr/>
        </p:nvSpPr>
        <p:spPr>
          <a:xfrm>
            <a:off x="4344124" y="389097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F79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Ожидаемый результат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3A6670CF-9BBA-15B5-CFC8-101FB12BF171}"/>
              </a:ext>
            </a:extLst>
          </p:cNvPr>
          <p:cNvSpPr/>
          <p:nvPr/>
        </p:nvSpPr>
        <p:spPr>
          <a:xfrm>
            <a:off x="4344124" y="4297890"/>
            <a:ext cx="3182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[Какое знание / артефакт получим]</a:t>
            </a:r>
            <a:endParaRPr lang="en-US" sz="1600" dirty="0">
              <a:latin typeface="Aptos" panose="020B0004020202020204" pitchFamily="34" charset="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[Формат результата]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D816DBA5-811C-4B7A-5766-215BA05BBA0D}"/>
              </a:ext>
            </a:extLst>
          </p:cNvPr>
          <p:cNvSpPr/>
          <p:nvPr/>
        </p:nvSpPr>
        <p:spPr>
          <a:xfrm>
            <a:off x="8229600" y="389097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F79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Внедрение и сроки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ED7F0519-CE38-F4D4-3E63-A29F832BF985}"/>
              </a:ext>
            </a:extLst>
          </p:cNvPr>
          <p:cNvSpPr/>
          <p:nvPr/>
        </p:nvSpPr>
        <p:spPr>
          <a:xfrm>
            <a:off x="8247043" y="4297890"/>
            <a:ext cx="3182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[Как результат дойдёт до практики]</a:t>
            </a:r>
            <a:endParaRPr lang="en-US" sz="1600" dirty="0">
              <a:latin typeface="Aptos" panose="020B0004020202020204" pitchFamily="34" charset="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16374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[Ключевые этапы и дедлайн]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FBFA8829-38E8-9E20-48CD-09CABE13AC7A}"/>
              </a:ext>
            </a:extLst>
          </p:cNvPr>
          <p:cNvSpPr>
            <a:spLocks noGrp="1"/>
          </p:cNvSpPr>
          <p:nvPr/>
        </p:nvSpPr>
        <p:spPr>
          <a:xfrm>
            <a:off x="642977" y="179896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07F79"/>
                </a:solidFill>
                <a:latin typeface="Aptos"/>
                <a:ea typeface="Aptos"/>
                <a:cs typeface="Aptos"/>
              </a:defRPr>
            </a:pPr>
            <a:r>
              <a:rPr lang="en-US" b="1" dirty="0">
                <a:solidFill>
                  <a:srgbClr val="007F79"/>
                </a:solidFill>
                <a:latin typeface="Aptos" panose="020B0004020202020204" pitchFamily="34" charset="0"/>
                <a:ea typeface="Aptos"/>
                <a:cs typeface="Aptos"/>
              </a:rPr>
              <a:t>02</a:t>
            </a:r>
            <a:r>
              <a:rPr b="1" dirty="0">
                <a:solidFill>
                  <a:srgbClr val="007F79"/>
                </a:solidFill>
                <a:latin typeface="Aptos" panose="020B0004020202020204" pitchFamily="34" charset="0"/>
                <a:ea typeface="Aptos"/>
                <a:cs typeface="Aptos"/>
              </a:rPr>
              <a:t> / </a:t>
            </a:r>
            <a:r>
              <a:rPr lang="en-US" b="1" kern="0" spc="80" dirty="0">
                <a:solidFill>
                  <a:srgbClr val="007F79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ДОПОЛНЕНИЕ</a:t>
            </a:r>
            <a:endParaRPr b="1" dirty="0">
              <a:solidFill>
                <a:srgbClr val="007F79"/>
              </a:solidFill>
              <a:latin typeface="Aptos" panose="020B0004020202020204" pitchFamily="34" charset="0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40626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A6E85FF-5336-4C42-AB3D-1B204ECBED3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07F79"/>
                </a:solidFill>
                <a:latin typeface="Aptos"/>
                <a:ea typeface="Aptos"/>
                <a:cs typeface="Aptos"/>
              </a:defRPr>
            </a:pPr>
            <a:r>
              <a:rPr lang="en-US" sz="1275" b="1" dirty="0">
                <a:solidFill>
                  <a:srgbClr val="007F79"/>
                </a:solidFill>
                <a:latin typeface="Aptos"/>
                <a:ea typeface="Aptos"/>
                <a:cs typeface="Aptos"/>
              </a:rPr>
              <a:t>02/ </a:t>
            </a:r>
            <a:r>
              <a:rPr sz="1275" b="1" dirty="0">
                <a:solidFill>
                  <a:srgbClr val="007F79"/>
                </a:solidFill>
                <a:latin typeface="Aptos"/>
                <a:ea typeface="Aptos"/>
                <a:cs typeface="Aptos"/>
              </a:rPr>
              <a:t>ДОПОЛНЕНИЕ / ПОДХОД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432F712-524D-4749-83E6-F8A8D1A17520}"/>
              </a:ext>
            </a:extLst>
          </p:cNvPr>
          <p:cNvSpPr>
            <a:spLocks noGrp="1"/>
          </p:cNvSpPr>
          <p:nvPr/>
        </p:nvSpPr>
        <p:spPr>
          <a:xfrm>
            <a:off x="609600" y="885825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63746"/>
                </a:solidFill>
                <a:latin typeface="Aptos"/>
                <a:ea typeface="Aptos"/>
                <a:cs typeface="Aptos"/>
              </a:rPr>
              <a:t>Предлагаемое ИИ-решение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59250A8-A89D-4CFE-AAFE-49096DCD8B29}"/>
              </a:ext>
            </a:extLst>
          </p:cNvPr>
          <p:cNvSpPr>
            <a:spLocks noGrp="1"/>
          </p:cNvSpPr>
          <p:nvPr/>
        </p:nvSpPr>
        <p:spPr>
          <a:xfrm>
            <a:off x="11049000" y="6229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479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9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9DDC286-0A0E-4F44-B022-846780CFCA11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7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7F79"/>
                </a:solidFill>
                <a:latin typeface="Aptos"/>
                <a:ea typeface="Aptos"/>
                <a:cs typeface="Aptos"/>
              </a:rPr>
              <a:t>Исходные данные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F11C31F-A0E1-4D77-9B15-5A2C8D7CF6EE}"/>
              </a:ext>
            </a:extLst>
          </p:cNvPr>
          <p:cNvSpPr>
            <a:spLocks noGrp="1"/>
          </p:cNvSpPr>
          <p:nvPr/>
        </p:nvSpPr>
        <p:spPr>
          <a:xfrm>
            <a:off x="609600" y="2505075"/>
            <a:ext cx="4953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63746"/>
                </a:solidFill>
                <a:latin typeface="Aptos"/>
                <a:ea typeface="Aptos"/>
                <a:cs typeface="Aptos"/>
              </a:rPr>
              <a:t>[Какие данные получает решение]</a:t>
            </a:r>
          </a:p>
          <a:p>
            <a:pPr>
              <a:defRPr sz="1950" b="0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63746"/>
                </a:solidFill>
                <a:latin typeface="Aptos"/>
                <a:ea typeface="Aptos"/>
                <a:cs typeface="Aptos"/>
              </a:rPr>
              <a:t>[Источник, формат и объём]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08D1A1D-4356-46B4-97AF-5649DEE7ECAE}"/>
              </a:ext>
            </a:extLst>
          </p:cNvPr>
          <p:cNvSpPr>
            <a:spLocks noGrp="1"/>
          </p:cNvSpPr>
          <p:nvPr/>
        </p:nvSpPr>
        <p:spPr>
          <a:xfrm>
            <a:off x="6362700" y="20478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7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7F79"/>
                </a:solidFill>
                <a:latin typeface="Aptos"/>
                <a:ea typeface="Aptos"/>
                <a:cs typeface="Aptos"/>
              </a:rPr>
              <a:t>Работа ИИ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C4C6B3E-F949-4CB8-AA6A-4D3229BB3983}"/>
              </a:ext>
            </a:extLst>
          </p:cNvPr>
          <p:cNvSpPr>
            <a:spLocks noGrp="1"/>
          </p:cNvSpPr>
          <p:nvPr/>
        </p:nvSpPr>
        <p:spPr>
          <a:xfrm>
            <a:off x="6362700" y="2505075"/>
            <a:ext cx="4953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63746"/>
                </a:solidFill>
                <a:latin typeface="Aptos"/>
                <a:ea typeface="Aptos"/>
                <a:cs typeface="Aptos"/>
              </a:rPr>
              <a:t>[Что распознаёт, прогнозирует</a:t>
            </a:r>
          </a:p>
          <a:p>
            <a:pPr>
              <a:defRPr sz="1950" b="0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63746"/>
                </a:solidFill>
                <a:latin typeface="Aptos"/>
                <a:ea typeface="Aptos"/>
                <a:cs typeface="Aptos"/>
              </a:rPr>
              <a:t>или генерирует модель]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7C0C329-0FF9-4ADA-B35A-13A016B2611A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7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7F79"/>
                </a:solidFill>
                <a:latin typeface="Aptos"/>
                <a:ea typeface="Aptos"/>
                <a:cs typeface="Aptos"/>
              </a:rPr>
              <a:t>Результат для пользователя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C2596D4-F255-4B38-B14D-D6E1F8FFEE2B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4953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63746"/>
                </a:solidFill>
                <a:latin typeface="Aptos"/>
                <a:ea typeface="Aptos"/>
                <a:cs typeface="Aptos"/>
              </a:rPr>
              <a:t>[Что получает сотрудник]</a:t>
            </a:r>
          </a:p>
          <a:p>
            <a:pPr>
              <a:defRPr sz="1950" b="0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63746"/>
                </a:solidFill>
                <a:latin typeface="Aptos"/>
                <a:ea typeface="Aptos"/>
                <a:cs typeface="Aptos"/>
              </a:rPr>
              <a:t>[Как использует это в работе]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1CA29A-73D7-47E1-9EF3-C7E53D0FEF7A}"/>
              </a:ext>
            </a:extLst>
          </p:cNvPr>
          <p:cNvSpPr>
            <a:spLocks noGrp="1"/>
          </p:cNvSpPr>
          <p:nvPr/>
        </p:nvSpPr>
        <p:spPr>
          <a:xfrm>
            <a:off x="6362700" y="392430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7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7F79"/>
                </a:solidFill>
                <a:latin typeface="Aptos"/>
                <a:ea typeface="Aptos"/>
                <a:cs typeface="Aptos"/>
              </a:rPr>
              <a:t>Контроль человека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130B8B3-92DB-488A-810D-1AF71C87ED63}"/>
              </a:ext>
            </a:extLst>
          </p:cNvPr>
          <p:cNvSpPr>
            <a:spLocks noGrp="1"/>
          </p:cNvSpPr>
          <p:nvPr/>
        </p:nvSpPr>
        <p:spPr>
          <a:xfrm>
            <a:off x="6362700" y="4381500"/>
            <a:ext cx="4953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63746"/>
                </a:solidFill>
                <a:latin typeface="Aptos"/>
                <a:ea typeface="Aptos"/>
                <a:cs typeface="Aptos"/>
              </a:rPr>
              <a:t>[Кто проверяет результат]</a:t>
            </a:r>
          </a:p>
          <a:p>
            <a:pPr>
              <a:defRPr sz="1950" b="0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63746"/>
                </a:solidFill>
                <a:latin typeface="Aptos"/>
                <a:ea typeface="Aptos"/>
                <a:cs typeface="Aptos"/>
              </a:rPr>
              <a:t>[Когда решение передаётся человеку]</a:t>
            </a:r>
          </a:p>
        </p:txBody>
      </p:sp>
    </p:spTree>
    <p:extLst>
      <p:ext uri="{BB962C8B-B14F-4D97-AF65-F5344CB8AC3E}">
        <p14:creationId xmlns:p14="http://schemas.microsoft.com/office/powerpoint/2010/main" val="1794825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2C692EB-C80D-49FC-9332-7D421DF58B0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07F79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007F79"/>
                </a:solidFill>
                <a:latin typeface="Aptos"/>
                <a:ea typeface="Aptos"/>
                <a:cs typeface="Aptos"/>
              </a:rPr>
              <a:t>0</a:t>
            </a:r>
            <a:r>
              <a:rPr lang="en-US" sz="1275" b="1" dirty="0">
                <a:solidFill>
                  <a:srgbClr val="007F79"/>
                </a:solidFill>
                <a:latin typeface="Aptos"/>
                <a:ea typeface="Aptos"/>
                <a:cs typeface="Aptos"/>
              </a:rPr>
              <a:t>3</a:t>
            </a:r>
            <a:r>
              <a:rPr sz="1275" b="1" dirty="0">
                <a:solidFill>
                  <a:srgbClr val="007F79"/>
                </a:solidFill>
                <a:latin typeface="Aptos"/>
                <a:ea typeface="Aptos"/>
                <a:cs typeface="Aptos"/>
              </a:rPr>
              <a:t> / ЦЕЛЬ И МЕТРИКИ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4753134-49BB-4188-925A-473A347ECBC2}"/>
              </a:ext>
            </a:extLst>
          </p:cNvPr>
          <p:cNvSpPr>
            <a:spLocks noGrp="1"/>
          </p:cNvSpPr>
          <p:nvPr/>
        </p:nvSpPr>
        <p:spPr>
          <a:xfrm>
            <a:off x="609600" y="885825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63746"/>
                </a:solidFill>
                <a:latin typeface="Aptos"/>
                <a:ea typeface="Aptos"/>
                <a:cs typeface="Aptos"/>
              </a:rPr>
              <a:t>Цель и метрики успеха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9DB25A6-B3E6-4BEC-9919-130E9F02C5BD}"/>
              </a:ext>
            </a:extLst>
          </p:cNvPr>
          <p:cNvSpPr>
            <a:spLocks noGrp="1"/>
          </p:cNvSpPr>
          <p:nvPr/>
        </p:nvSpPr>
        <p:spPr>
          <a:xfrm>
            <a:off x="11049000" y="6229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479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9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F7702B5-1C8B-4161-B88F-92755CABFD31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07F7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7F79"/>
                </a:solidFill>
                <a:latin typeface="Aptos"/>
                <a:ea typeface="Aptos"/>
                <a:cs typeface="Aptos"/>
              </a:rPr>
              <a:t>К [дата] изменить [показатель] с [X] до [Y] в рамках пилота</a:t>
            </a:r>
          </a:p>
        </p:txBody>
      </p:sp>
      <p:graphicFrame>
        <p:nvGraphicFramePr>
          <p:cNvPr id="11" name="Таблица 10"/>
          <p:cNvGraphicFramePr/>
          <p:nvPr/>
        </p:nvGraphicFramePr>
        <p:xfrm>
          <a:off x="609600" y="2686050"/>
          <a:ext cx="10972800" cy="2381252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53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Показатель</a:t>
                      </a:r>
                    </a:p>
                  </a:txBody>
                  <a:tcPr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Сейчас</a:t>
                      </a:r>
                    </a:p>
                  </a:txBody>
                  <a:tcPr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Цель</a:t>
                      </a:r>
                    </a:p>
                  </a:txBody>
                  <a:tcPr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Как измеряем</a:t>
                      </a:r>
                    </a:p>
                  </a:txBody>
                  <a:tcPr>
                    <a:solidFill>
                      <a:srgbClr val="10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[Бизнес-метрика, ед.]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[X]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[Y]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[Источник и период]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[Качество ИИ, ед.]</a:t>
                      </a:r>
                    </a:p>
                  </a:txBody>
                  <a:tcP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[X / нет замера]</a:t>
                      </a:r>
                    </a:p>
                  </a:txBody>
                  <a:tcP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[Порог]</a:t>
                      </a:r>
                    </a:p>
                  </a:txBody>
                  <a:tcP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[Тестовая выборка]</a:t>
                      </a:r>
                    </a:p>
                  </a:txBody>
                  <a:tcPr>
                    <a:solidFill>
                      <a:srgbClr val="EA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[Ограничение, ед.]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[X]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[Допустимый уровень]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[Способ проверки]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1BA31BF-0E10-48D1-8C74-B7AA892C6ACB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479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985"/>
                </a:solidFill>
                <a:latin typeface="Aptos"/>
                <a:ea typeface="Aptos"/>
                <a:cs typeface="Aptos"/>
              </a:rPr>
              <a:t>Сравнение до и после: одинаковые условия и способ измерения.</a:t>
            </a:r>
          </a:p>
        </p:txBody>
      </p:sp>
    </p:spTree>
    <p:extLst>
      <p:ext uri="{BB962C8B-B14F-4D97-AF65-F5344CB8AC3E}">
        <p14:creationId xmlns:p14="http://schemas.microsoft.com/office/powerpoint/2010/main" val="1475583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4608A4-CBDE-52C6-0382-450713C23888}"/>
              </a:ext>
            </a:extLst>
          </p:cNvPr>
          <p:cNvSpPr txBox="1"/>
          <p:nvPr/>
        </p:nvSpPr>
        <p:spPr>
          <a:xfrm>
            <a:off x="839709" y="756718"/>
            <a:ext cx="60975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3200"/>
            </a:pPr>
            <a:r>
              <a:rPr lang="ru-RU" sz="2200" b="1" dirty="0">
                <a:solidFill>
                  <a:srgbClr val="0A4A5C"/>
                </a:solidFill>
                <a:latin typeface="Aptos" panose="020B0004020202020204" pitchFamily="34" charset="0"/>
                <a:ea typeface="Tahoma" pitchFamily="34" charset="0"/>
                <a:cs typeface="Tahoma" pitchFamily="34" charset="0"/>
                <a:sym typeface="Montserrat"/>
              </a:rPr>
              <a:t>Концепция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EC3286-52C3-D9DE-C6F0-6A99E9EA3FA8}"/>
              </a:ext>
            </a:extLst>
          </p:cNvPr>
          <p:cNvSpPr txBox="1"/>
          <p:nvPr/>
        </p:nvSpPr>
        <p:spPr>
          <a:xfrm>
            <a:off x="722015" y="1187605"/>
            <a:ext cx="9689470" cy="3997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27" indent="-216027">
              <a:lnSpc>
                <a:spcPct val="150000"/>
              </a:lnSpc>
              <a:buAutoNum type="arabicPeriod"/>
            </a:pPr>
            <a:r>
              <a:rPr lang="ru-RU" sz="1900" dirty="0">
                <a:latin typeface="Aptos" panose="020B0004020202020204" pitchFamily="34" charset="0"/>
                <a:ea typeface="Tahoma" pitchFamily="34" charset="0"/>
                <a:cs typeface="Tahoma" pitchFamily="34" charset="0"/>
              </a:rPr>
              <a:t>Этапы реализации проекта</a:t>
            </a:r>
          </a:p>
          <a:p>
            <a:pPr marL="324041" indent="-162020">
              <a:lnSpc>
                <a:spcPct val="150000"/>
              </a:lnSpc>
              <a:buClr>
                <a:srgbClr val="08577A"/>
              </a:buClr>
              <a:buFont typeface="Formular" panose="02000000000000000000" pitchFamily="2" charset="-52"/>
              <a:buChar char="→"/>
            </a:pPr>
            <a:r>
              <a:rPr lang="ru-RU" sz="1900" dirty="0">
                <a:latin typeface="Aptos" panose="020B0004020202020204" pitchFamily="34" charset="0"/>
                <a:ea typeface="Tahoma" pitchFamily="34" charset="0"/>
                <a:cs typeface="Tahoma" pitchFamily="34" charset="0"/>
              </a:rPr>
              <a:t>Этапы проекта</a:t>
            </a:r>
          </a:p>
          <a:p>
            <a:pPr marL="324041" indent="-162020">
              <a:lnSpc>
                <a:spcPct val="150000"/>
              </a:lnSpc>
              <a:buClr>
                <a:srgbClr val="08577A"/>
              </a:buClr>
              <a:buFont typeface="Formular" panose="02000000000000000000" pitchFamily="2" charset="-52"/>
              <a:buChar char="→"/>
            </a:pPr>
            <a:r>
              <a:rPr lang="ru-RU" sz="1900" dirty="0">
                <a:latin typeface="Aptos" panose="020B0004020202020204" pitchFamily="34" charset="0"/>
                <a:ea typeface="Tahoma" pitchFamily="34" charset="0"/>
                <a:cs typeface="Tahoma" pitchFamily="34" charset="0"/>
              </a:rPr>
              <a:t>Основные элементы (участники, механизмы, ресурсы) </a:t>
            </a:r>
          </a:p>
          <a:p>
            <a:pPr>
              <a:lnSpc>
                <a:spcPct val="150000"/>
              </a:lnSpc>
            </a:pPr>
            <a:r>
              <a:rPr lang="ru-RU" sz="1900" dirty="0">
                <a:latin typeface="Aptos" panose="020B0004020202020204" pitchFamily="34" charset="0"/>
                <a:ea typeface="Tahoma" pitchFamily="34" charset="0"/>
                <a:cs typeface="Tahoma" pitchFamily="34" charset="0"/>
              </a:rPr>
              <a:t>2.  Стейкхолдеры и заказчик проекта</a:t>
            </a:r>
          </a:p>
          <a:p>
            <a:pPr marL="324041" indent="-162020">
              <a:lnSpc>
                <a:spcPct val="150000"/>
              </a:lnSpc>
              <a:buClr>
                <a:srgbClr val="08577A"/>
              </a:buClr>
              <a:buFont typeface="Formular" panose="02000000000000000000" pitchFamily="2" charset="-52"/>
              <a:buChar char="→"/>
            </a:pPr>
            <a:r>
              <a:rPr lang="ru-RU" sz="1900" dirty="0">
                <a:latin typeface="Aptos" panose="020B0004020202020204" pitchFamily="34" charset="0"/>
                <a:ea typeface="Tahoma" pitchFamily="34" charset="0"/>
                <a:cs typeface="Tahoma" pitchFamily="34" charset="0"/>
              </a:rPr>
              <a:t>Кто выступает заказчиком проекта?</a:t>
            </a:r>
          </a:p>
          <a:p>
            <a:pPr marL="324041" indent="-162020">
              <a:lnSpc>
                <a:spcPct val="150000"/>
              </a:lnSpc>
              <a:buClr>
                <a:srgbClr val="08577A"/>
              </a:buClr>
              <a:buFont typeface="Formular" panose="02000000000000000000" pitchFamily="2" charset="-52"/>
              <a:buChar char="→"/>
            </a:pPr>
            <a:r>
              <a:rPr lang="ru-RU" sz="1900" dirty="0">
                <a:latin typeface="Aptos" panose="020B0004020202020204" pitchFamily="34" charset="0"/>
                <a:ea typeface="Tahoma" pitchFamily="34" charset="0"/>
                <a:cs typeface="Tahoma" pitchFamily="34" charset="0"/>
              </a:rPr>
              <a:t>Кто является заинтересованными сторонами проекта?</a:t>
            </a:r>
          </a:p>
          <a:p>
            <a:pPr>
              <a:lnSpc>
                <a:spcPct val="150000"/>
              </a:lnSpc>
            </a:pPr>
            <a:r>
              <a:rPr lang="ru-RU" sz="1900" dirty="0">
                <a:latin typeface="Aptos" panose="020B0004020202020204" pitchFamily="34" charset="0"/>
                <a:ea typeface="Tahoma" pitchFamily="34" charset="0"/>
                <a:cs typeface="Tahoma" pitchFamily="34" charset="0"/>
              </a:rPr>
              <a:t>3. Результаты и продукт проекта</a:t>
            </a:r>
          </a:p>
          <a:p>
            <a:pPr marL="324041" indent="-162020">
              <a:lnSpc>
                <a:spcPct val="150000"/>
              </a:lnSpc>
              <a:buClr>
                <a:srgbClr val="08577A"/>
              </a:buClr>
              <a:buFont typeface="Formular" panose="02000000000000000000" pitchFamily="2" charset="-52"/>
              <a:buChar char="→"/>
            </a:pPr>
            <a:r>
              <a:rPr lang="ru-RU" sz="1900" dirty="0">
                <a:latin typeface="Aptos" panose="020B0004020202020204" pitchFamily="34" charset="0"/>
                <a:ea typeface="Tahoma" pitchFamily="34" charset="0"/>
                <a:cs typeface="Tahoma" pitchFamily="34" charset="0"/>
              </a:rPr>
              <a:t>Какое знание будет получено по итогам проекта?</a:t>
            </a:r>
          </a:p>
          <a:p>
            <a:pPr marL="324041" indent="-162020">
              <a:lnSpc>
                <a:spcPct val="150000"/>
              </a:lnSpc>
              <a:buClr>
                <a:srgbClr val="08577A"/>
              </a:buClr>
              <a:buFont typeface="Formular" panose="02000000000000000000" pitchFamily="2" charset="-52"/>
              <a:buChar char="→"/>
            </a:pPr>
            <a:r>
              <a:rPr lang="ru-RU" sz="1900" dirty="0">
                <a:latin typeface="Aptos" panose="020B0004020202020204" pitchFamily="34" charset="0"/>
                <a:ea typeface="Tahoma" pitchFamily="34" charset="0"/>
                <a:cs typeface="Tahoma" pitchFamily="34" charset="0"/>
              </a:rPr>
              <a:t>Какие продукты можно сделать на основе проекта? 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2B19CD1-4EFD-5E03-ED93-D290C1CA7093}"/>
              </a:ext>
            </a:extLst>
          </p:cNvPr>
          <p:cNvSpPr>
            <a:spLocks noGrp="1"/>
          </p:cNvSpPr>
          <p:nvPr/>
        </p:nvSpPr>
        <p:spPr>
          <a:xfrm>
            <a:off x="722015" y="388875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07F79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007F79"/>
                </a:solidFill>
                <a:latin typeface="Aptos"/>
                <a:ea typeface="Aptos"/>
                <a:cs typeface="Aptos"/>
              </a:rPr>
              <a:t>0</a:t>
            </a:r>
            <a:r>
              <a:rPr lang="en-US" sz="1275" b="1" dirty="0">
                <a:solidFill>
                  <a:srgbClr val="007F79"/>
                </a:solidFill>
                <a:latin typeface="Aptos"/>
                <a:ea typeface="Aptos"/>
                <a:cs typeface="Aptos"/>
              </a:rPr>
              <a:t>4</a:t>
            </a:r>
            <a:r>
              <a:rPr sz="1275" b="1" dirty="0">
                <a:solidFill>
                  <a:srgbClr val="007F79"/>
                </a:solidFill>
                <a:latin typeface="Aptos"/>
                <a:ea typeface="Aptos"/>
                <a:cs typeface="Aptos"/>
              </a:rPr>
              <a:t> / </a:t>
            </a:r>
            <a:r>
              <a:rPr lang="ru-RU" sz="1275" b="1" dirty="0">
                <a:solidFill>
                  <a:srgbClr val="007F79"/>
                </a:solidFill>
                <a:latin typeface="Aptos"/>
                <a:ea typeface="Aptos"/>
                <a:cs typeface="Aptos"/>
              </a:rPr>
              <a:t>КОНЦЕПЦИЯ</a:t>
            </a:r>
            <a:endParaRPr sz="1275" b="1" dirty="0">
              <a:solidFill>
                <a:srgbClr val="007F79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13384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92A372-346C-4360-BDF4-F3BC8BD5C95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07F79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007F79"/>
                </a:solidFill>
                <a:latin typeface="Aptos"/>
                <a:ea typeface="Aptos"/>
                <a:cs typeface="Aptos"/>
              </a:rPr>
              <a:t>0</a:t>
            </a:r>
            <a:r>
              <a:rPr lang="ru-RU" sz="1275" b="1" dirty="0">
                <a:solidFill>
                  <a:srgbClr val="007F79"/>
                </a:solidFill>
                <a:latin typeface="Aptos"/>
                <a:ea typeface="Aptos"/>
                <a:cs typeface="Aptos"/>
              </a:rPr>
              <a:t>5</a:t>
            </a:r>
            <a:r>
              <a:rPr sz="1275" b="1" dirty="0">
                <a:solidFill>
                  <a:srgbClr val="007F79"/>
                </a:solidFill>
                <a:latin typeface="Aptos"/>
                <a:ea typeface="Aptos"/>
                <a:cs typeface="Aptos"/>
              </a:rPr>
              <a:t> / ГРАНИЦЫ ПИЛОТА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61DF0EC-63DE-40F7-A063-7485C3D5DDCB}"/>
              </a:ext>
            </a:extLst>
          </p:cNvPr>
          <p:cNvSpPr>
            <a:spLocks noGrp="1"/>
          </p:cNvSpPr>
          <p:nvPr/>
        </p:nvSpPr>
        <p:spPr>
          <a:xfrm>
            <a:off x="609600" y="885825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63746"/>
                </a:solidFill>
                <a:latin typeface="Aptos"/>
                <a:ea typeface="Aptos"/>
                <a:cs typeface="Aptos"/>
              </a:rPr>
              <a:t>Границы пилота и готовность данных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1D90E1F-A1EF-4753-8F47-1F5112079DED}"/>
              </a:ext>
            </a:extLst>
          </p:cNvPr>
          <p:cNvSpPr>
            <a:spLocks noGrp="1"/>
          </p:cNvSpPr>
          <p:nvPr/>
        </p:nvSpPr>
        <p:spPr>
          <a:xfrm>
            <a:off x="11049000" y="6229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479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9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3CE554C-493F-485D-A8D3-4B5FE891EC99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7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7F79"/>
                </a:solidFill>
                <a:latin typeface="Aptos"/>
                <a:ea typeface="Aptos"/>
                <a:cs typeface="Aptos"/>
              </a:rPr>
              <a:t>Входит в пилот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AE31AF0-B4BB-49E1-BF62-833684FDF164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4953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63746"/>
                </a:solidFill>
                <a:latin typeface="Aptos"/>
                <a:ea typeface="Aptos"/>
                <a:cs typeface="Aptos"/>
              </a:rPr>
              <a:t>[Отдел и группа пользователей]</a:t>
            </a:r>
          </a:p>
          <a:p>
            <a:pPr>
              <a:defRPr sz="1950" b="0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63746"/>
                </a:solidFill>
                <a:latin typeface="Aptos"/>
                <a:ea typeface="Aptos"/>
                <a:cs typeface="Aptos"/>
              </a:rPr>
              <a:t>[Сценарии, канал, тип документов]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BCDFAE0-39DC-4072-82CB-5D32EEBD0304}"/>
              </a:ext>
            </a:extLst>
          </p:cNvPr>
          <p:cNvSpPr>
            <a:spLocks noGrp="1"/>
          </p:cNvSpPr>
          <p:nvPr/>
        </p:nvSpPr>
        <p:spPr>
          <a:xfrm>
            <a:off x="6362700" y="20002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7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7F79"/>
                </a:solidFill>
                <a:latin typeface="Aptos"/>
                <a:ea typeface="Aptos"/>
                <a:cs typeface="Aptos"/>
              </a:rPr>
              <a:t>За пределами пилота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93B1847-8D40-4979-A1D4-E57C35A061DE}"/>
              </a:ext>
            </a:extLst>
          </p:cNvPr>
          <p:cNvSpPr>
            <a:spLocks noGrp="1"/>
          </p:cNvSpPr>
          <p:nvPr/>
        </p:nvSpPr>
        <p:spPr>
          <a:xfrm>
            <a:off x="6362700" y="2457450"/>
            <a:ext cx="4953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63746"/>
                </a:solidFill>
                <a:latin typeface="Aptos"/>
                <a:ea typeface="Aptos"/>
                <a:cs typeface="Aptos"/>
              </a:rPr>
              <a:t>[Процессы и случаи, которые</a:t>
            </a:r>
          </a:p>
          <a:p>
            <a:pPr>
              <a:defRPr sz="1950" b="0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63746"/>
                </a:solidFill>
                <a:latin typeface="Aptos"/>
                <a:ea typeface="Aptos"/>
                <a:cs typeface="Aptos"/>
              </a:rPr>
              <a:t>не проверяем на этом этапе]</a:t>
            </a:r>
          </a:p>
        </p:txBody>
      </p:sp>
      <p:graphicFrame>
        <p:nvGraphicFramePr>
          <p:cNvPr id="17" name="Таблица 16"/>
          <p:cNvGraphicFramePr/>
          <p:nvPr/>
        </p:nvGraphicFramePr>
        <p:xfrm>
          <a:off x="609600" y="4048125"/>
          <a:ext cx="10972800" cy="1381125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Данные</a:t>
                      </a:r>
                    </a:p>
                  </a:txBody>
                  <a:tcPr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Готовность и действия</a:t>
                      </a:r>
                    </a:p>
                  </a:txBody>
                  <a:tcPr>
                    <a:solidFill>
                      <a:srgbClr val="10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[Источник, объём, период]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[Доступ есть / получить к дате]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[Качество и разметка]</a:t>
                      </a:r>
                    </a:p>
                  </a:txBody>
                  <a:tcP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[Что очистить, проверить, обезличить]</a:t>
                      </a:r>
                    </a:p>
                  </a:txBody>
                  <a:tcPr>
                    <a:solidFill>
                      <a:srgbClr val="EA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83A3799-DCA4-42DC-A54E-49275CA6470D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479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985"/>
                </a:solidFill>
                <a:latin typeface="Aptos"/>
                <a:ea typeface="Aptos"/>
                <a:cs typeface="Aptos"/>
              </a:rPr>
              <a:t>Минимальный результат пилота: [что именно команда передаст заказчику].</a:t>
            </a:r>
          </a:p>
        </p:txBody>
      </p:sp>
    </p:spTree>
    <p:extLst>
      <p:ext uri="{BB962C8B-B14F-4D97-AF65-F5344CB8AC3E}">
        <p14:creationId xmlns:p14="http://schemas.microsoft.com/office/powerpoint/2010/main" val="1612552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4D7AAE-5FFE-5CDC-A817-A55DEF166387}"/>
              </a:ext>
            </a:extLst>
          </p:cNvPr>
          <p:cNvSpPr txBox="1"/>
          <p:nvPr/>
        </p:nvSpPr>
        <p:spPr>
          <a:xfrm>
            <a:off x="1072655" y="826267"/>
            <a:ext cx="60975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3200"/>
            </a:pPr>
            <a:r>
              <a:rPr lang="ru-RU" sz="1900" b="1" dirty="0">
                <a:solidFill>
                  <a:srgbClr val="0A4A5C"/>
                </a:solidFill>
                <a:latin typeface="Aptos" panose="020B0004020202020204" pitchFamily="34" charset="0"/>
                <a:ea typeface="Tahoma" pitchFamily="34" charset="0"/>
                <a:cs typeface="Tahoma" pitchFamily="34" charset="0"/>
                <a:sym typeface="Montserrat"/>
              </a:rPr>
              <a:t>Пробное действие (3 слайда)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7A6AD-05F7-D89F-0EEA-58069925175C}"/>
              </a:ext>
            </a:extLst>
          </p:cNvPr>
          <p:cNvSpPr txBox="1"/>
          <p:nvPr/>
        </p:nvSpPr>
        <p:spPr>
          <a:xfrm>
            <a:off x="993618" y="1210988"/>
            <a:ext cx="9499348" cy="3558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27" indent="-216027">
              <a:lnSpc>
                <a:spcPct val="150000"/>
              </a:lnSpc>
              <a:buAutoNum type="arabicPeriod"/>
            </a:pPr>
            <a:r>
              <a:rPr lang="ru-RU" sz="1900" dirty="0">
                <a:latin typeface="Aptos" panose="020B0004020202020204" pitchFamily="34" charset="0"/>
                <a:ea typeface="Tahoma" pitchFamily="34" charset="0"/>
                <a:cs typeface="Tahoma" pitchFamily="34" charset="0"/>
              </a:rPr>
              <a:t>Алгоритм анализа</a:t>
            </a:r>
          </a:p>
          <a:p>
            <a:pPr marL="216027" indent="-216027">
              <a:lnSpc>
                <a:spcPct val="150000"/>
              </a:lnSpc>
              <a:buAutoNum type="arabicPeriod"/>
            </a:pPr>
            <a:r>
              <a:rPr lang="ru-RU" sz="1900" dirty="0">
                <a:latin typeface="Aptos" panose="020B0004020202020204" pitchFamily="34" charset="0"/>
                <a:ea typeface="Tahoma" pitchFamily="34" charset="0"/>
                <a:cs typeface="Tahoma" pitchFamily="34" charset="0"/>
              </a:rPr>
              <a:t>Сбор, анализ и интерпретация данных, способных верифицировать гипотезу/решить одну из задач проекта</a:t>
            </a:r>
          </a:p>
          <a:p>
            <a:pPr marL="216027" indent="-216027">
              <a:lnSpc>
                <a:spcPct val="150000"/>
              </a:lnSpc>
              <a:buAutoNum type="arabicPeriod"/>
            </a:pPr>
            <a:r>
              <a:rPr lang="ru-RU" sz="1900" dirty="0">
                <a:latin typeface="Aptos" panose="020B0004020202020204" pitchFamily="34" charset="0"/>
                <a:ea typeface="Tahoma" pitchFamily="34" charset="0"/>
                <a:cs typeface="Tahoma" pitchFamily="34" charset="0"/>
              </a:rPr>
              <a:t>Описание </a:t>
            </a:r>
            <a:r>
              <a:rPr lang="en-US" sz="1900" dirty="0">
                <a:latin typeface="Aptos" panose="020B0004020202020204" pitchFamily="34" charset="0"/>
                <a:ea typeface="Tahoma" pitchFamily="34" charset="0"/>
                <a:cs typeface="Tahoma" pitchFamily="34" charset="0"/>
              </a:rPr>
              <a:t>MVP</a:t>
            </a:r>
            <a:r>
              <a:rPr lang="ru-RU" sz="1900" dirty="0">
                <a:latin typeface="Aptos" panose="020B0004020202020204" pitchFamily="34" charset="0"/>
                <a:ea typeface="Tahoma" pitchFamily="34" charset="0"/>
                <a:cs typeface="Tahoma" pitchFamily="34" charset="0"/>
              </a:rPr>
              <a:t> проекта (пробный минимально жизнеспособный продукт) или результатов анализа</a:t>
            </a:r>
          </a:p>
          <a:p>
            <a:pPr marL="216027" indent="-216027">
              <a:lnSpc>
                <a:spcPct val="150000"/>
              </a:lnSpc>
              <a:buAutoNum type="arabicPeriod"/>
            </a:pPr>
            <a:r>
              <a:rPr lang="ru-RU" sz="1900" dirty="0">
                <a:latin typeface="Aptos" panose="020B0004020202020204" pitchFamily="34" charset="0"/>
                <a:ea typeface="Tahoma" pitchFamily="34" charset="0"/>
                <a:cs typeface="Tahoma" pitchFamily="34" charset="0"/>
              </a:rPr>
              <a:t>Рефлексия:</a:t>
            </a:r>
          </a:p>
          <a:p>
            <a:pPr marL="162020" indent="178522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900" dirty="0">
                <a:latin typeface="Aptos" panose="020B0004020202020204" pitchFamily="34" charset="0"/>
                <a:ea typeface="Tahoma" pitchFamily="34" charset="0"/>
                <a:cs typeface="Tahoma" pitchFamily="34" charset="0"/>
              </a:rPr>
              <a:t>Что получилось, что не получилось?</a:t>
            </a:r>
          </a:p>
          <a:p>
            <a:pPr marL="162020" indent="178522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900" dirty="0">
                <a:latin typeface="Aptos" panose="020B0004020202020204" pitchFamily="34" charset="0"/>
                <a:ea typeface="Tahoma" pitchFamily="34" charset="0"/>
                <a:cs typeface="Tahoma" pitchFamily="34" charset="0"/>
              </a:rPr>
              <a:t>Что нужно сделать для более эффективной реализации проекта?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570E6E4D-2529-6844-5B80-59100C90A9B0}"/>
              </a:ext>
            </a:extLst>
          </p:cNvPr>
          <p:cNvSpPr/>
          <p:nvPr/>
        </p:nvSpPr>
        <p:spPr>
          <a:xfrm>
            <a:off x="993618" y="432739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kern="0" spc="80" dirty="0">
                <a:solidFill>
                  <a:srgbClr val="007F79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06 / ПРОБНОЕ ДЕЙСТВИЕ</a:t>
            </a:r>
            <a:endParaRPr lang="en-US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072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D4427BD-A831-4B73-87EB-1B9854459BC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07F79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007F79"/>
                </a:solidFill>
                <a:latin typeface="Aptos"/>
                <a:ea typeface="Aptos"/>
                <a:cs typeface="Aptos"/>
              </a:rPr>
              <a:t>0</a:t>
            </a:r>
            <a:r>
              <a:rPr lang="en-US" sz="1275" b="1" dirty="0">
                <a:solidFill>
                  <a:srgbClr val="007F79"/>
                </a:solidFill>
                <a:latin typeface="Aptos"/>
                <a:ea typeface="Aptos"/>
                <a:cs typeface="Aptos"/>
              </a:rPr>
              <a:t>7</a:t>
            </a:r>
            <a:r>
              <a:rPr sz="1275" b="1" dirty="0">
                <a:solidFill>
                  <a:srgbClr val="007F79"/>
                </a:solidFill>
                <a:latin typeface="Aptos"/>
                <a:ea typeface="Aptos"/>
                <a:cs typeface="Aptos"/>
              </a:rPr>
              <a:t> / КОМАНДА И РОЛИ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93ED1EA-D5A6-483F-9403-2B13A989CCFF}"/>
              </a:ext>
            </a:extLst>
          </p:cNvPr>
          <p:cNvSpPr>
            <a:spLocks noGrp="1"/>
          </p:cNvSpPr>
          <p:nvPr/>
        </p:nvSpPr>
        <p:spPr>
          <a:xfrm>
            <a:off x="609600" y="885825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63746"/>
                </a:solidFill>
                <a:latin typeface="Aptos"/>
                <a:ea typeface="Aptos"/>
                <a:cs typeface="Aptos"/>
              </a:rPr>
              <a:t>Команда и ответственность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B841EC7-231B-429C-AA21-2BC99A5EC2FD}"/>
              </a:ext>
            </a:extLst>
          </p:cNvPr>
          <p:cNvSpPr>
            <a:spLocks noGrp="1"/>
          </p:cNvSpPr>
          <p:nvPr/>
        </p:nvSpPr>
        <p:spPr>
          <a:xfrm>
            <a:off x="11049000" y="6229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479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9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graphicFrame>
        <p:nvGraphicFramePr>
          <p:cNvPr id="9" name="Таблица 8"/>
          <p:cNvGraphicFramePr/>
          <p:nvPr/>
        </p:nvGraphicFramePr>
        <p:xfrm>
          <a:off x="609600" y="2066925"/>
          <a:ext cx="10972800" cy="2952750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Роль</a:t>
                      </a:r>
                    </a:p>
                  </a:txBody>
                  <a:tcPr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Участник</a:t>
                      </a:r>
                    </a:p>
                  </a:txBody>
                  <a:tcPr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Ответственность</a:t>
                      </a:r>
                    </a:p>
                  </a:txBody>
                  <a:tcPr>
                    <a:solidFill>
                      <a:srgbClr val="10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Спонсор проекта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[ФИО / должность]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Бюджет и решение о продолжении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Владелец задачи</a:t>
                      </a:r>
                    </a:p>
                  </a:txBody>
                  <a:tcP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[ФИО / должность]</a:t>
                      </a:r>
                    </a:p>
                  </a:txBody>
                  <a:tcP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Требования и приёмка результата</a:t>
                      </a:r>
                    </a:p>
                  </a:txBody>
                  <a:tcPr>
                    <a:solidFill>
                      <a:srgbClr val="EA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ИИ / данные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[ФИО / подрядчик]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Настройка и проверка решения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Пользователи пилота</a:t>
                      </a:r>
                    </a:p>
                  </a:txBody>
                  <a:tcP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[Состав группы]</a:t>
                      </a:r>
                    </a:p>
                  </a:txBody>
                  <a:tcP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Тестирование и обратная связь</a:t>
                      </a:r>
                    </a:p>
                  </a:txBody>
                  <a:tcPr>
                    <a:solidFill>
                      <a:srgbClr val="EA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3F659B5-50D7-404F-B89E-562C266D1845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479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985"/>
                </a:solidFill>
                <a:latin typeface="Aptos"/>
                <a:ea typeface="Aptos"/>
                <a:cs typeface="Aptos"/>
              </a:rPr>
              <a:t>Ответственный за пилот: [ФИО]. Согласования с ИТ / ИБ: [кто и когда].</a:t>
            </a:r>
          </a:p>
        </p:txBody>
      </p:sp>
    </p:spTree>
    <p:extLst>
      <p:ext uri="{BB962C8B-B14F-4D97-AF65-F5344CB8AC3E}">
        <p14:creationId xmlns:p14="http://schemas.microsoft.com/office/powerpoint/2010/main" val="716802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8A473B4-B51F-42AD-B39E-9AE4BD937D5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07F79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007F79"/>
                </a:solidFill>
                <a:latin typeface="Aptos"/>
                <a:ea typeface="Aptos"/>
                <a:cs typeface="Aptos"/>
              </a:rPr>
              <a:t>0</a:t>
            </a:r>
            <a:r>
              <a:rPr lang="en-US" sz="1275" b="1" dirty="0">
                <a:solidFill>
                  <a:srgbClr val="007F79"/>
                </a:solidFill>
                <a:latin typeface="Aptos"/>
                <a:ea typeface="Aptos"/>
                <a:cs typeface="Aptos"/>
              </a:rPr>
              <a:t>8</a:t>
            </a:r>
            <a:r>
              <a:rPr sz="1275" b="1" dirty="0">
                <a:solidFill>
                  <a:srgbClr val="007F79"/>
                </a:solidFill>
                <a:latin typeface="Aptos"/>
                <a:ea typeface="Aptos"/>
                <a:cs typeface="Aptos"/>
              </a:rPr>
              <a:t> / СРОКИ И РЕСУРСЫ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91C813B-881A-46FD-915E-2EAA7CE7C41E}"/>
              </a:ext>
            </a:extLst>
          </p:cNvPr>
          <p:cNvSpPr>
            <a:spLocks noGrp="1"/>
          </p:cNvSpPr>
          <p:nvPr/>
        </p:nvSpPr>
        <p:spPr>
          <a:xfrm>
            <a:off x="609600" y="885825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63746"/>
                </a:solidFill>
                <a:latin typeface="Aptos"/>
                <a:ea typeface="Aptos"/>
                <a:cs typeface="Aptos"/>
              </a:rPr>
              <a:t>Сроки и ресурсы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BBA6D05-D09E-4662-A0A8-629A5D1B0E16}"/>
              </a:ext>
            </a:extLst>
          </p:cNvPr>
          <p:cNvSpPr>
            <a:spLocks noGrp="1"/>
          </p:cNvSpPr>
          <p:nvPr/>
        </p:nvSpPr>
        <p:spPr>
          <a:xfrm>
            <a:off x="11049000" y="6229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479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9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91387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F909AF1-1291-4D4B-AB4C-A680A86B7E4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07F79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007F79"/>
                </a:solidFill>
                <a:latin typeface="Aptos"/>
                <a:ea typeface="Aptos"/>
                <a:cs typeface="Aptos"/>
              </a:rPr>
              <a:t>0</a:t>
            </a:r>
            <a:r>
              <a:rPr lang="en-US" sz="1275" b="1" dirty="0">
                <a:solidFill>
                  <a:srgbClr val="007F79"/>
                </a:solidFill>
                <a:latin typeface="Aptos"/>
                <a:ea typeface="Aptos"/>
                <a:cs typeface="Aptos"/>
              </a:rPr>
              <a:t>9</a:t>
            </a:r>
            <a:r>
              <a:rPr sz="1275" b="1" dirty="0">
                <a:solidFill>
                  <a:srgbClr val="007F79"/>
                </a:solidFill>
                <a:latin typeface="Aptos"/>
                <a:ea typeface="Aptos"/>
                <a:cs typeface="Aptos"/>
              </a:rPr>
              <a:t> / РИСКИ И РЕШЕНИЕ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69ABFDA-8A50-4692-BDE2-ED694B3BB048}"/>
              </a:ext>
            </a:extLst>
          </p:cNvPr>
          <p:cNvSpPr>
            <a:spLocks noGrp="1"/>
          </p:cNvSpPr>
          <p:nvPr/>
        </p:nvSpPr>
        <p:spPr>
          <a:xfrm>
            <a:off x="609600" y="885825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63746"/>
                </a:solidFill>
                <a:latin typeface="Aptos"/>
                <a:ea typeface="Aptos"/>
                <a:cs typeface="Aptos"/>
              </a:rPr>
              <a:t>Риски и критерии решения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1ECE3AC-DC76-479B-8C12-DBCB3AA7F8AE}"/>
              </a:ext>
            </a:extLst>
          </p:cNvPr>
          <p:cNvSpPr>
            <a:spLocks noGrp="1"/>
          </p:cNvSpPr>
          <p:nvPr/>
        </p:nvSpPr>
        <p:spPr>
          <a:xfrm>
            <a:off x="11049000" y="6229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479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9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graphicFrame>
        <p:nvGraphicFramePr>
          <p:cNvPr id="14" name="Таблица 13"/>
          <p:cNvGraphicFramePr/>
          <p:nvPr/>
        </p:nvGraphicFramePr>
        <p:xfrm>
          <a:off x="609600" y="1981200"/>
          <a:ext cx="10972800" cy="1857375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Ключевой риск</a:t>
                      </a:r>
                    </a:p>
                  </a:txBody>
                  <a:tcPr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Как снижаем</a:t>
                      </a:r>
                    </a:p>
                  </a:txBody>
                  <a:tcPr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Ответственный</a:t>
                      </a:r>
                    </a:p>
                  </a:txBody>
                  <a:tcPr>
                    <a:solidFill>
                      <a:srgbClr val="10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[Риск по данным]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[Действие до старта]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[ФИО]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[Риск качества / использования]</a:t>
                      </a:r>
                    </a:p>
                  </a:txBody>
                  <a:tcP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</a:t>
                      </a:r>
                      <a:r>
                        <a:rPr sz="1575" b="0" dirty="0" err="1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Контроль</a:t>
                      </a:r>
                      <a:r>
                        <a:rPr sz="1575" b="0" dirty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 и </a:t>
                      </a:r>
                      <a:r>
                        <a:rPr sz="1575" b="0" dirty="0" err="1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запасной</a:t>
                      </a:r>
                      <a:r>
                        <a:rPr sz="1575" b="0" dirty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вариант</a:t>
                      </a:r>
                      <a:r>
                        <a:rPr sz="1575" b="0" dirty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]</a:t>
                      </a:r>
                    </a:p>
                  </a:txBody>
                  <a:tcP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>
                          <a:solidFill>
                            <a:srgbClr val="163746"/>
                          </a:solidFill>
                          <a:latin typeface="Aptos"/>
                          <a:ea typeface="Aptos"/>
                          <a:cs typeface="Aptos"/>
                        </a:rPr>
                        <a:t>[ФИО]</a:t>
                      </a:r>
                    </a:p>
                  </a:txBody>
                  <a:tcPr>
                    <a:solidFill>
                      <a:srgbClr val="EA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E019A4B-F59A-485B-BB34-0DEB83D23441}"/>
              </a:ext>
            </a:extLst>
          </p:cNvPr>
          <p:cNvSpPr>
            <a:spLocks noGrp="1"/>
          </p:cNvSpPr>
          <p:nvPr/>
        </p:nvSpPr>
        <p:spPr>
          <a:xfrm>
            <a:off x="609600" y="4219575"/>
            <a:ext cx="328612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7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7F79"/>
                </a:solidFill>
                <a:latin typeface="Aptos"/>
                <a:ea typeface="Aptos"/>
                <a:cs typeface="Aptos"/>
              </a:rPr>
              <a:t>Масштабировать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FC103B0-6526-48CF-8330-E1F287AE3BCE}"/>
              </a:ext>
            </a:extLst>
          </p:cNvPr>
          <p:cNvSpPr>
            <a:spLocks noGrp="1"/>
          </p:cNvSpPr>
          <p:nvPr/>
        </p:nvSpPr>
        <p:spPr>
          <a:xfrm>
            <a:off x="609600" y="4676775"/>
            <a:ext cx="32861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63746"/>
                </a:solidFill>
                <a:latin typeface="Aptos"/>
                <a:ea typeface="Aptos"/>
                <a:cs typeface="Aptos"/>
              </a:rPr>
              <a:t>[Пороги успеха и условия</a:t>
            </a:r>
          </a:p>
          <a:p>
            <a:pPr>
              <a:defRPr sz="1950" b="0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63746"/>
                </a:solidFill>
                <a:latin typeface="Aptos"/>
                <a:ea typeface="Aptos"/>
                <a:cs typeface="Aptos"/>
              </a:rPr>
              <a:t>готовности к внедрению]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9853B5C-43A2-4307-9866-385559554280}"/>
              </a:ext>
            </a:extLst>
          </p:cNvPr>
          <p:cNvSpPr>
            <a:spLocks noGrp="1"/>
          </p:cNvSpPr>
          <p:nvPr/>
        </p:nvSpPr>
        <p:spPr>
          <a:xfrm>
            <a:off x="4400550" y="4219575"/>
            <a:ext cx="328612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7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7F79"/>
                </a:solidFill>
                <a:latin typeface="Aptos"/>
                <a:ea typeface="Aptos"/>
                <a:cs typeface="Aptos"/>
              </a:rPr>
              <a:t>Доработать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11CBCA5-9752-4241-A09F-A3D53838C6ED}"/>
              </a:ext>
            </a:extLst>
          </p:cNvPr>
          <p:cNvSpPr>
            <a:spLocks noGrp="1"/>
          </p:cNvSpPr>
          <p:nvPr/>
        </p:nvSpPr>
        <p:spPr>
          <a:xfrm>
            <a:off x="4400550" y="4676775"/>
            <a:ext cx="32861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63746"/>
                </a:solidFill>
                <a:latin typeface="Aptos"/>
                <a:ea typeface="Aptos"/>
                <a:cs typeface="Aptos"/>
              </a:rPr>
              <a:t>[Допустимое отклонение]</a:t>
            </a:r>
          </a:p>
          <a:p>
            <a:pPr>
              <a:defRPr sz="1950" b="0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63746"/>
                </a:solidFill>
                <a:latin typeface="Aptos"/>
                <a:ea typeface="Aptos"/>
                <a:cs typeface="Aptos"/>
              </a:rPr>
              <a:t>[Что и к какому сроку исправить]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FB7CA67-A86C-4B87-B0CA-83A35507A36C}"/>
              </a:ext>
            </a:extLst>
          </p:cNvPr>
          <p:cNvSpPr>
            <a:spLocks noGrp="1"/>
          </p:cNvSpPr>
          <p:nvPr/>
        </p:nvSpPr>
        <p:spPr>
          <a:xfrm>
            <a:off x="8191500" y="4219575"/>
            <a:ext cx="33909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7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7F79"/>
                </a:solidFill>
                <a:latin typeface="Aptos"/>
                <a:ea typeface="Aptos"/>
                <a:cs typeface="Aptos"/>
              </a:rPr>
              <a:t>Остановить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FEEC541-120C-4896-91C1-6E9C61F980E1}"/>
              </a:ext>
            </a:extLst>
          </p:cNvPr>
          <p:cNvSpPr>
            <a:spLocks noGrp="1"/>
          </p:cNvSpPr>
          <p:nvPr/>
        </p:nvSpPr>
        <p:spPr>
          <a:xfrm>
            <a:off x="8191500" y="4676775"/>
            <a:ext cx="33909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63746"/>
                </a:solidFill>
                <a:latin typeface="Aptos"/>
                <a:ea typeface="Aptos"/>
                <a:cs typeface="Aptos"/>
              </a:rPr>
              <a:t>[Критический риск или</a:t>
            </a:r>
          </a:p>
          <a:p>
            <a:pPr>
              <a:defRPr sz="1950" b="0">
                <a:solidFill>
                  <a:srgbClr val="16374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63746"/>
                </a:solidFill>
                <a:latin typeface="Aptos"/>
                <a:ea typeface="Aptos"/>
                <a:cs typeface="Aptos"/>
              </a:rPr>
              <a:t>неподтверждённая гипотеза]</a:t>
            </a:r>
          </a:p>
        </p:txBody>
      </p:sp>
    </p:spTree>
    <p:extLst>
      <p:ext uri="{BB962C8B-B14F-4D97-AF65-F5344CB8AC3E}">
        <p14:creationId xmlns:p14="http://schemas.microsoft.com/office/powerpoint/2010/main" val="197337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825FFD-38AB-8023-2808-F932B9381C84}"/>
              </a:ext>
            </a:extLst>
          </p:cNvPr>
          <p:cNvSpPr txBox="1"/>
          <p:nvPr/>
        </p:nvSpPr>
        <p:spPr>
          <a:xfrm>
            <a:off x="3047246" y="2721114"/>
            <a:ext cx="60975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3200"/>
            </a:pPr>
            <a:r>
              <a:rPr lang="ru-RU" sz="4000" b="1" dirty="0">
                <a:solidFill>
                  <a:srgbClr val="0A4A5C"/>
                </a:solidFill>
                <a:latin typeface="Aptos" panose="020B0004020202020204" pitchFamily="34" charset="0"/>
                <a:ea typeface="Tahoma" pitchFamily="34" charset="0"/>
                <a:cs typeface="Tahoma" pitchFamily="34" charset="0"/>
                <a:sym typeface="Montserrat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5949287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982</Words>
  <Application>Microsoft Office PowerPoint</Application>
  <DocSecurity>0</DocSecurity>
  <PresentationFormat>Широкоэкранный</PresentationFormat>
  <Paragraphs>163</Paragraphs>
  <Slides>12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Aptos</vt:lpstr>
      <vt:lpstr>Arial</vt:lpstr>
      <vt:lpstr>Calibri</vt:lpstr>
      <vt:lpstr>Formular</vt:lpstr>
      <vt:lpstr>Montserrat</vt:lpstr>
      <vt:lpstr>Tahoma</vt:lpstr>
      <vt:lpstr>Wingdings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Gevie</cp:lastModifiedBy>
  <cp:revision>14</cp:revision>
  <dcterms:created xsi:type="dcterms:W3CDTF">2026-09-18T04:13:22Z</dcterms:created>
  <dcterms:modified xsi:type="dcterms:W3CDTF">2026-09-23T11:30:30Z</dcterms:modified>
</cp:coreProperties>
</file>