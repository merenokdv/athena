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82" r:id="rId2"/>
    <p:sldId id="274" r:id="rId3"/>
    <p:sldId id="381" r:id="rId4"/>
    <p:sldId id="286" r:id="rId5"/>
    <p:sldId id="288" r:id="rId6"/>
    <p:sldId id="291" r:id="rId7"/>
    <p:sldId id="289" r:id="rId8"/>
  </p:sldIdLst>
  <p:sldSz cx="5761038" cy="3240088"/>
  <p:notesSz cx="6858000" cy="9144000"/>
  <p:defaultTextStyle>
    <a:defPPr>
      <a:defRPr lang="ru-RU"/>
    </a:defPPr>
    <a:lvl1pPr marL="0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16027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32054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48081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864108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080135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296162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12189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728216" algn="l" defTabSz="4320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021">
          <p15:clr>
            <a:srgbClr val="A4A3A4"/>
          </p15:clr>
        </p15:guide>
        <p15:guide id="4" pos="181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77A"/>
    <a:srgbClr val="D6EBF7"/>
    <a:srgbClr val="94DED9"/>
    <a:srgbClr val="7A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/>
    <p:restoredTop sz="94582"/>
  </p:normalViewPr>
  <p:slideViewPr>
    <p:cSldViewPr snapToGrid="0" snapToObjects="1">
      <p:cViewPr varScale="1">
        <p:scale>
          <a:sx n="100" d="100"/>
          <a:sy n="100" d="100"/>
        </p:scale>
        <p:origin x="62" y="826"/>
      </p:cViewPr>
      <p:guideLst>
        <p:guide orient="horz" pos="2160"/>
        <p:guide pos="3840"/>
        <p:guide orient="horz" pos="1021"/>
        <p:guide pos="181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64439-5D8E-F34F-ADE6-2BF9FB5181AF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51C2E-2B3B-4C44-BEC7-32A7AC2F6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345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16027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32054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48081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864108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080135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296162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12189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728216" algn="l" defTabSz="43205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9687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5DA6D0-D3FF-4C8D-8145-7C3B9372E0D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05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049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5DA6D0-D3FF-4C8D-8145-7C3B9372E0D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466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5DA6D0-D3FF-4C8D-8145-7C3B9372E0D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56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5DA6D0-D3FF-4C8D-8145-7C3B9372E0D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56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5DA6D0-D3FF-4C8D-8145-7C3B9372E0D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656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20130" y="530264"/>
            <a:ext cx="4320779" cy="1128031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20130" y="1701796"/>
            <a:ext cx="4320779" cy="782271"/>
          </a:xfrm>
        </p:spPr>
        <p:txBody>
          <a:bodyPr/>
          <a:lstStyle>
            <a:lvl1pPr marL="0" indent="0" algn="ctr">
              <a:buNone/>
              <a:defRPr sz="1100"/>
            </a:lvl1pPr>
            <a:lvl2pPr marL="216027" indent="0" algn="ctr">
              <a:buNone/>
              <a:defRPr sz="900"/>
            </a:lvl2pPr>
            <a:lvl3pPr marL="432054" indent="0" algn="ctr">
              <a:buNone/>
              <a:defRPr sz="900"/>
            </a:lvl3pPr>
            <a:lvl4pPr marL="648081" indent="0" algn="ctr">
              <a:buNone/>
              <a:defRPr sz="800"/>
            </a:lvl4pPr>
            <a:lvl5pPr marL="864108" indent="0" algn="ctr">
              <a:buNone/>
              <a:defRPr sz="800"/>
            </a:lvl5pPr>
            <a:lvl6pPr marL="1080135" indent="0" algn="ctr">
              <a:buNone/>
              <a:defRPr sz="800"/>
            </a:lvl6pPr>
            <a:lvl7pPr marL="1296162" indent="0" algn="ctr">
              <a:buNone/>
              <a:defRPr sz="800"/>
            </a:lvl7pPr>
            <a:lvl8pPr marL="1512189" indent="0" algn="ctr">
              <a:buNone/>
              <a:defRPr sz="800"/>
            </a:lvl8pPr>
            <a:lvl9pPr marL="1728216" indent="0" algn="ctr">
              <a:buNone/>
              <a:defRPr sz="8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446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14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3071" y="807773"/>
            <a:ext cx="4968895" cy="1347786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3071" y="2168309"/>
            <a:ext cx="4968895" cy="708769"/>
          </a:xfr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160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8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96071" y="862523"/>
            <a:ext cx="2448441" cy="20558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2916526" y="862523"/>
            <a:ext cx="2448441" cy="20558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83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822" y="172505"/>
            <a:ext cx="4968895" cy="62626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6822" y="794272"/>
            <a:ext cx="2437189" cy="389260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216027" indent="0">
              <a:buNone/>
              <a:defRPr sz="900" b="1"/>
            </a:lvl2pPr>
            <a:lvl3pPr marL="432054" indent="0">
              <a:buNone/>
              <a:defRPr sz="900" b="1"/>
            </a:lvl3pPr>
            <a:lvl4pPr marL="648081" indent="0">
              <a:buNone/>
              <a:defRPr sz="800" b="1"/>
            </a:lvl4pPr>
            <a:lvl5pPr marL="864108" indent="0">
              <a:buNone/>
              <a:defRPr sz="800" b="1"/>
            </a:lvl5pPr>
            <a:lvl6pPr marL="1080135" indent="0">
              <a:buNone/>
              <a:defRPr sz="800" b="1"/>
            </a:lvl6pPr>
            <a:lvl7pPr marL="1296162" indent="0">
              <a:buNone/>
              <a:defRPr sz="800" b="1"/>
            </a:lvl7pPr>
            <a:lvl8pPr marL="1512189" indent="0">
              <a:buNone/>
              <a:defRPr sz="800" b="1"/>
            </a:lvl8pPr>
            <a:lvl9pPr marL="1728216" indent="0">
              <a:buNone/>
              <a:defRPr sz="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396822" y="1183532"/>
            <a:ext cx="2437189" cy="17407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2916525" y="794272"/>
            <a:ext cx="2449192" cy="389260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216027" indent="0">
              <a:buNone/>
              <a:defRPr sz="900" b="1"/>
            </a:lvl2pPr>
            <a:lvl3pPr marL="432054" indent="0">
              <a:buNone/>
              <a:defRPr sz="900" b="1"/>
            </a:lvl3pPr>
            <a:lvl4pPr marL="648081" indent="0">
              <a:buNone/>
              <a:defRPr sz="800" b="1"/>
            </a:lvl4pPr>
            <a:lvl5pPr marL="864108" indent="0">
              <a:buNone/>
              <a:defRPr sz="800" b="1"/>
            </a:lvl5pPr>
            <a:lvl6pPr marL="1080135" indent="0">
              <a:buNone/>
              <a:defRPr sz="800" b="1"/>
            </a:lvl6pPr>
            <a:lvl7pPr marL="1296162" indent="0">
              <a:buNone/>
              <a:defRPr sz="800" b="1"/>
            </a:lvl7pPr>
            <a:lvl8pPr marL="1512189" indent="0">
              <a:buNone/>
              <a:defRPr sz="800" b="1"/>
            </a:lvl8pPr>
            <a:lvl9pPr marL="1728216" indent="0">
              <a:buNone/>
              <a:defRPr sz="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2916525" y="1183532"/>
            <a:ext cx="2449192" cy="17407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1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28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345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822" y="216006"/>
            <a:ext cx="1858085" cy="756021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49192" y="466513"/>
            <a:ext cx="2916525" cy="2302563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6822" y="972026"/>
            <a:ext cx="1858085" cy="1800799"/>
          </a:xfrm>
        </p:spPr>
        <p:txBody>
          <a:bodyPr/>
          <a:lstStyle>
            <a:lvl1pPr marL="0" indent="0">
              <a:buNone/>
              <a:defRPr sz="800"/>
            </a:lvl1pPr>
            <a:lvl2pPr marL="216027" indent="0">
              <a:buNone/>
              <a:defRPr sz="700"/>
            </a:lvl2pPr>
            <a:lvl3pPr marL="432054" indent="0">
              <a:buNone/>
              <a:defRPr sz="600"/>
            </a:lvl3pPr>
            <a:lvl4pPr marL="648081" indent="0">
              <a:buNone/>
              <a:defRPr sz="500"/>
            </a:lvl4pPr>
            <a:lvl5pPr marL="864108" indent="0">
              <a:buNone/>
              <a:defRPr sz="500"/>
            </a:lvl5pPr>
            <a:lvl6pPr marL="1080135" indent="0">
              <a:buNone/>
              <a:defRPr sz="500"/>
            </a:lvl6pPr>
            <a:lvl7pPr marL="1296162" indent="0">
              <a:buNone/>
              <a:defRPr sz="500"/>
            </a:lvl7pPr>
            <a:lvl8pPr marL="1512189" indent="0">
              <a:buNone/>
              <a:defRPr sz="500"/>
            </a:lvl8pPr>
            <a:lvl9pPr marL="1728216" indent="0">
              <a:buNone/>
              <a:defRPr sz="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40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822" y="216006"/>
            <a:ext cx="1858085" cy="756021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449192" y="466513"/>
            <a:ext cx="2916525" cy="2302563"/>
          </a:xfrm>
        </p:spPr>
        <p:txBody>
          <a:bodyPr/>
          <a:lstStyle>
            <a:lvl1pPr marL="0" indent="0">
              <a:buNone/>
              <a:defRPr sz="1500"/>
            </a:lvl1pPr>
            <a:lvl2pPr marL="216027" indent="0">
              <a:buNone/>
              <a:defRPr sz="1300"/>
            </a:lvl2pPr>
            <a:lvl3pPr marL="432054" indent="0">
              <a:buNone/>
              <a:defRPr sz="1100"/>
            </a:lvl3pPr>
            <a:lvl4pPr marL="648081" indent="0">
              <a:buNone/>
              <a:defRPr sz="900"/>
            </a:lvl4pPr>
            <a:lvl5pPr marL="864108" indent="0">
              <a:buNone/>
              <a:defRPr sz="900"/>
            </a:lvl5pPr>
            <a:lvl6pPr marL="1080135" indent="0">
              <a:buNone/>
              <a:defRPr sz="900"/>
            </a:lvl6pPr>
            <a:lvl7pPr marL="1296162" indent="0">
              <a:buNone/>
              <a:defRPr sz="900"/>
            </a:lvl7pPr>
            <a:lvl8pPr marL="1512189" indent="0">
              <a:buNone/>
              <a:defRPr sz="900"/>
            </a:lvl8pPr>
            <a:lvl9pPr marL="1728216" indent="0">
              <a:buNone/>
              <a:defRPr sz="9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6822" y="972026"/>
            <a:ext cx="1858085" cy="1800799"/>
          </a:xfrm>
        </p:spPr>
        <p:txBody>
          <a:bodyPr/>
          <a:lstStyle>
            <a:lvl1pPr marL="0" indent="0">
              <a:buNone/>
              <a:defRPr sz="800"/>
            </a:lvl1pPr>
            <a:lvl2pPr marL="216027" indent="0">
              <a:buNone/>
              <a:defRPr sz="700"/>
            </a:lvl2pPr>
            <a:lvl3pPr marL="432054" indent="0">
              <a:buNone/>
              <a:defRPr sz="600"/>
            </a:lvl3pPr>
            <a:lvl4pPr marL="648081" indent="0">
              <a:buNone/>
              <a:defRPr sz="500"/>
            </a:lvl4pPr>
            <a:lvl5pPr marL="864108" indent="0">
              <a:buNone/>
              <a:defRPr sz="500"/>
            </a:lvl5pPr>
            <a:lvl6pPr marL="1080135" indent="0">
              <a:buNone/>
              <a:defRPr sz="500"/>
            </a:lvl6pPr>
            <a:lvl7pPr marL="1296162" indent="0">
              <a:buNone/>
              <a:defRPr sz="500"/>
            </a:lvl7pPr>
            <a:lvl8pPr marL="1512189" indent="0">
              <a:buNone/>
              <a:defRPr sz="500"/>
            </a:lvl8pPr>
            <a:lvl9pPr marL="1728216" indent="0">
              <a:buNone/>
              <a:defRPr sz="5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433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71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4122743" y="172505"/>
            <a:ext cx="1242224" cy="27458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96072" y="172505"/>
            <a:ext cx="3654658" cy="27458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24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526" y="78291"/>
            <a:ext cx="2231811" cy="694393"/>
          </a:xfrm>
        </p:spPr>
        <p:txBody>
          <a:bodyPr lIns="0" tIns="0" rIns="0" bIns="0"/>
          <a:lstStyle>
            <a:lvl1pPr>
              <a:defRPr sz="4500" b="1" i="0">
                <a:solidFill>
                  <a:srgbClr val="00425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052" y="745221"/>
            <a:ext cx="2506052" cy="18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6935" y="745221"/>
            <a:ext cx="2506052" cy="1832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083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072" y="172505"/>
            <a:ext cx="4968895" cy="626267"/>
          </a:xfrm>
          <a:prstGeom prst="rect">
            <a:avLst/>
          </a:prstGeom>
        </p:spPr>
        <p:txBody>
          <a:bodyPr vert="horz" lIns="43205" tIns="21603" rIns="43205" bIns="2160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6072" y="862523"/>
            <a:ext cx="4968895" cy="2055806"/>
          </a:xfrm>
          <a:prstGeom prst="rect">
            <a:avLst/>
          </a:prstGeom>
        </p:spPr>
        <p:txBody>
          <a:bodyPr vert="horz" lIns="43205" tIns="21603" rIns="43205" bIns="2160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96071" y="3003082"/>
            <a:ext cx="1296234" cy="172505"/>
          </a:xfrm>
          <a:prstGeom prst="rect">
            <a:avLst/>
          </a:prstGeom>
        </p:spPr>
        <p:txBody>
          <a:bodyPr vert="horz" lIns="43205" tIns="21603" rIns="43205" bIns="21603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EC0B9-53F8-4A4F-A245-B9E52D156B4E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908344" y="3003082"/>
            <a:ext cx="1944350" cy="172505"/>
          </a:xfrm>
          <a:prstGeom prst="rect">
            <a:avLst/>
          </a:prstGeom>
        </p:spPr>
        <p:txBody>
          <a:bodyPr vert="horz" lIns="43205" tIns="21603" rIns="43205" bIns="21603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4068733" y="3003082"/>
            <a:ext cx="1296234" cy="172505"/>
          </a:xfrm>
          <a:prstGeom prst="rect">
            <a:avLst/>
          </a:prstGeom>
        </p:spPr>
        <p:txBody>
          <a:bodyPr vert="horz" lIns="43205" tIns="21603" rIns="43205" bIns="21603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4F053-060B-9847-A7F3-CE3666560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532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/>
          <p:nvPr/>
        </p:nvSpPr>
        <p:spPr>
          <a:xfrm>
            <a:off x="4131056" y="2465362"/>
            <a:ext cx="1448308" cy="12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727" rIns="0" bIns="0" anchor="t" anchorCtr="0">
            <a:spAutoFit/>
          </a:bodyPr>
          <a:lstStyle/>
          <a:p>
            <a:pPr marL="3639">
              <a:lnSpc>
                <a:spcPct val="82812"/>
              </a:lnSpc>
              <a:buClr>
                <a:srgbClr val="000000"/>
              </a:buClr>
              <a:buSzPts val="3200"/>
            </a:pPr>
            <a:r>
              <a:rPr lang="ru-RU" sz="917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ФИО полностью</a:t>
            </a:r>
            <a:endParaRPr sz="91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328218" y="375676"/>
            <a:ext cx="5019742" cy="736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75000"/>
              </a:lnSpc>
            </a:pPr>
            <a:r>
              <a:rPr lang="ru-RU" sz="1719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Итоговый проект по программе</a:t>
            </a:r>
          </a:p>
          <a:p>
            <a:pPr lvl="0">
              <a:lnSpc>
                <a:spcPct val="75000"/>
              </a:lnSpc>
            </a:pPr>
            <a:r>
              <a:rPr lang="ru-RU" sz="1719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«Системный аналитик промышленных цифровых решений: проектирование, </a:t>
            </a:r>
            <a:r>
              <a:rPr lang="ru-RU" sz="1719" dirty="0" err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прототипирование</a:t>
            </a:r>
            <a:r>
              <a:rPr lang="ru-RU" sz="1719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, </a:t>
            </a:r>
            <a:r>
              <a:rPr lang="ru-RU" sz="1719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бизнес-эффекты»</a:t>
            </a:r>
            <a:endParaRPr sz="401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357262" y="2465362"/>
            <a:ext cx="2858378" cy="4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3" tIns="13093" rIns="26193" bIns="13093" anchor="t" anchorCtr="0">
            <a:spAutoFit/>
          </a:bodyPr>
          <a:lstStyle/>
          <a:p>
            <a:pPr>
              <a:lnSpc>
                <a:spcPct val="75000"/>
              </a:lnSpc>
              <a:buClr>
                <a:srgbClr val="000000"/>
              </a:buClr>
              <a:buSzPts val="3200"/>
            </a:pPr>
            <a:r>
              <a:rPr lang="ru-RU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Поток </a:t>
            </a:r>
            <a:r>
              <a:rPr lang="ru-RU" sz="917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СА 102</a:t>
            </a:r>
            <a:endParaRPr lang="ru-RU" sz="917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75000"/>
              </a:lnSpc>
              <a:spcAft>
                <a:spcPts val="344"/>
              </a:spcAft>
              <a:buClr>
                <a:srgbClr val="000000"/>
              </a:buClr>
              <a:buSzPts val="3200"/>
            </a:pPr>
            <a:r>
              <a:rPr lang="ru-RU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Даты </a:t>
            </a:r>
            <a:r>
              <a:rPr lang="ru-RU" sz="917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обучения: 31 августа </a:t>
            </a:r>
            <a:r>
              <a:rPr lang="en-US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202</a:t>
            </a:r>
            <a:r>
              <a:rPr lang="ru-RU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 </a:t>
            </a:r>
            <a:r>
              <a:rPr lang="ru-RU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– </a:t>
            </a:r>
            <a:r>
              <a:rPr lang="ru-RU" sz="917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28 сентября </a:t>
            </a:r>
            <a:r>
              <a:rPr lang="ru-RU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2026</a:t>
            </a:r>
            <a:endParaRPr lang="ru-RU" sz="917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>
              <a:lnSpc>
                <a:spcPct val="75000"/>
              </a:lnSpc>
              <a:buClr>
                <a:srgbClr val="000000"/>
              </a:buClr>
              <a:buSzPts val="3200"/>
            </a:pPr>
            <a:r>
              <a:rPr lang="ru-RU" sz="917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Программа реализуется в рамках федерального проекта «Содействие занятости»</a:t>
            </a:r>
            <a:endParaRPr sz="917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357262" y="1535963"/>
            <a:ext cx="3847821" cy="25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3" tIns="13093" rIns="26193" bIns="13093" anchor="t" anchorCtr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1375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[</a:t>
            </a:r>
            <a:r>
              <a:rPr lang="ru-RU" sz="1375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ТЕМА ПРОЕКТА</a:t>
            </a:r>
            <a:r>
              <a:rPr lang="en-US" sz="1375" dirty="0" smtClean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]</a:t>
            </a:r>
            <a:endParaRPr sz="1375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70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>
            <a:extLst>
              <a:ext uri="{FF2B5EF4-FFF2-40B4-BE49-F238E27FC236}">
                <a16:creationId xmlns:a16="http://schemas.microsoft.com/office/drawing/2014/main" id="{8042C75F-A47D-4F07-BBF8-CDFEE102CF9D}"/>
              </a:ext>
            </a:extLst>
          </p:cNvPr>
          <p:cNvSpPr txBox="1"/>
          <p:nvPr/>
        </p:nvSpPr>
        <p:spPr>
          <a:xfrm>
            <a:off x="1196902" y="1400919"/>
            <a:ext cx="3367235" cy="243683"/>
          </a:xfrm>
          <a:prstGeom prst="rect">
            <a:avLst/>
          </a:prstGeom>
          <a:noFill/>
        </p:spPr>
        <p:txBody>
          <a:bodyPr wrap="square" lIns="43205" tIns="21603" rIns="43205" bIns="21603" rtlCol="0">
            <a:spAutoFit/>
          </a:bodyPr>
          <a:lstStyle/>
          <a:p>
            <a:pPr algn="ctr"/>
            <a:r>
              <a:rPr lang="ru-RU" sz="1300" dirty="0">
                <a:ea typeface="Tahoma" pitchFamily="34" charset="0"/>
                <a:cs typeface="Tahoma" pitchFamily="34" charset="0"/>
              </a:rPr>
              <a:t>Приветствуются цифры и точные данные!</a:t>
            </a:r>
          </a:p>
        </p:txBody>
      </p:sp>
      <p:sp>
        <p:nvSpPr>
          <p:cNvPr id="2" name="Google Shape;117;g113ff5c7840_1_52">
            <a:extLst>
              <a:ext uri="{FF2B5EF4-FFF2-40B4-BE49-F238E27FC236}">
                <a16:creationId xmlns:a16="http://schemas.microsoft.com/office/drawing/2014/main" id="{E97539B8-99A5-C256-892B-0537F729537C}"/>
              </a:ext>
            </a:extLst>
          </p:cNvPr>
          <p:cNvSpPr/>
          <p:nvPr/>
        </p:nvSpPr>
        <p:spPr>
          <a:xfrm>
            <a:off x="315777" y="129791"/>
            <a:ext cx="4695273" cy="23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5" tIns="13094" rIns="26195" bIns="13094" anchor="t" anchorCtr="0">
            <a:no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13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Формулировка решаемой проблемы, описание проблемной ситуации</a:t>
            </a:r>
          </a:p>
        </p:txBody>
      </p:sp>
    </p:spTree>
    <p:extLst>
      <p:ext uri="{BB962C8B-B14F-4D97-AF65-F5344CB8AC3E}">
        <p14:creationId xmlns:p14="http://schemas.microsoft.com/office/powerpoint/2010/main" val="108836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4181" y="234588"/>
            <a:ext cx="4505125" cy="2802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283"/>
              </a:spcAf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Product </a:t>
            </a:r>
            <a:r>
              <a:rPr lang="ru-RU" b="1" dirty="0" err="1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Brief</a:t>
            </a: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b="1" dirty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(для </a:t>
            </a:r>
            <a:r>
              <a:rPr lang="ru-RU" b="1" dirty="0" smtClean="0">
                <a:solidFill>
                  <a:srgbClr val="FF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ориентира, 2-3 слайда):</a:t>
            </a:r>
            <a:endParaRPr lang="ru-RU" b="1" dirty="0">
              <a:solidFill>
                <a:srgbClr val="FF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Бизнес-проблема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Какую проблему должен решить или помочь решить проект?</a:t>
            </a:r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Контекст. 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В каком контексте возникает проблема? Может быть в формате сценариев, карты потока ценности, описания процессов, ситуации и т.д.</a:t>
            </a: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Исследовательская</a:t>
            </a:r>
            <a:r>
              <a:rPr lang="en-US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аналитическая цель проекта – 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что нужно узнать, определить чтобы проблема была решена?</a:t>
            </a:r>
            <a:endParaRPr lang="ru-RU" b="1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Критерии успеха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Какие метрики и критерии определяют успешное достижение результата?</a:t>
            </a: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Стейкхолдеры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Кто участвует в постановке задач и принятии результатов? Для кого решение проблемы принесет пользу?</a:t>
            </a: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Входные данные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Описание известных или доступных данных на момент создания проекта.</a:t>
            </a:r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Ожидаемые результаты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 и их формат.</a:t>
            </a:r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Внедрение результата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В какой форме результат будет доводиться до прикладной реализации?</a:t>
            </a:r>
            <a:r>
              <a:rPr lang="en-US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Будет ли вообще?</a:t>
            </a:r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61960" indent="-161960" algn="just">
              <a:lnSpc>
                <a:spcPct val="107000"/>
              </a:lnSpc>
              <a:spcAft>
                <a:spcPts val="283"/>
              </a:spcAft>
              <a:buSzPts val="1000"/>
              <a:buFont typeface="Symbol" panose="05050102010706020507" pitchFamily="18" charset="2"/>
              <a:buChar char=""/>
              <a:tabLst>
                <a:tab pos="215947" algn="l"/>
              </a:tabLst>
            </a:pPr>
            <a:r>
              <a:rPr lang="ru-RU" b="1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Сроки</a:t>
            </a:r>
            <a:r>
              <a:rPr lang="ru-RU" dirty="0">
                <a:solidFill>
                  <a:srgbClr val="222222"/>
                </a:solidFill>
                <a:ea typeface="Tahoma" panose="020B0604030504040204" pitchFamily="34" charset="0"/>
                <a:cs typeface="Tahoma" panose="020B0604030504040204" pitchFamily="34" charset="0"/>
              </a:rPr>
              <a:t>. Какие сроки и этапы реализации проекта?</a:t>
            </a:r>
            <a:endParaRPr lang="ru-RU" dirty="0"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74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17;g113ff5c7840_1_52">
            <a:extLst>
              <a:ext uri="{FF2B5EF4-FFF2-40B4-BE49-F238E27FC236}">
                <a16:creationId xmlns:a16="http://schemas.microsoft.com/office/drawing/2014/main" id="{471DCAB8-EB7B-4CA3-8A0F-5F4DB18F05BA}"/>
              </a:ext>
            </a:extLst>
          </p:cNvPr>
          <p:cNvSpPr/>
          <p:nvPr/>
        </p:nvSpPr>
        <p:spPr>
          <a:xfrm>
            <a:off x="315777" y="108316"/>
            <a:ext cx="5098579" cy="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5" tIns="13094" rIns="26195" bIns="13094" anchor="t" anchorCtr="0">
            <a:no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13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Цель и задачи проекта, краткая характеристика актуальности, краткое описание сути проекта (2-3 пункта)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042C75F-A47D-4F07-BBF8-CDFEE102CF9D}"/>
              </a:ext>
            </a:extLst>
          </p:cNvPr>
          <p:cNvSpPr txBox="1"/>
          <p:nvPr/>
        </p:nvSpPr>
        <p:spPr>
          <a:xfrm>
            <a:off x="315777" y="975042"/>
            <a:ext cx="2564742" cy="828838"/>
          </a:xfrm>
          <a:prstGeom prst="rect">
            <a:avLst/>
          </a:prstGeom>
          <a:noFill/>
        </p:spPr>
        <p:txBody>
          <a:bodyPr wrap="square" lIns="43205" tIns="21603" rIns="43205" bIns="21603" rtlCol="0">
            <a:spAutoFit/>
          </a:bodyPr>
          <a:lstStyle/>
          <a:p>
            <a:pPr marL="162020" indent="-16202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Тезис 1</a:t>
            </a:r>
          </a:p>
          <a:p>
            <a:pPr marL="162020" indent="-16202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Тезис 2</a:t>
            </a:r>
          </a:p>
          <a:p>
            <a:pPr marL="162020" indent="-16202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Тезис 3</a:t>
            </a:r>
          </a:p>
        </p:txBody>
      </p:sp>
    </p:spTree>
    <p:extLst>
      <p:ext uri="{BB962C8B-B14F-4D97-AF65-F5344CB8AC3E}">
        <p14:creationId xmlns:p14="http://schemas.microsoft.com/office/powerpoint/2010/main" val="2910664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17;g113ff5c7840_1_52">
            <a:extLst>
              <a:ext uri="{FF2B5EF4-FFF2-40B4-BE49-F238E27FC236}">
                <a16:creationId xmlns:a16="http://schemas.microsoft.com/office/drawing/2014/main" id="{471DCAB8-EB7B-4CA3-8A0F-5F4DB18F05BA}"/>
              </a:ext>
            </a:extLst>
          </p:cNvPr>
          <p:cNvSpPr/>
          <p:nvPr/>
        </p:nvSpPr>
        <p:spPr>
          <a:xfrm>
            <a:off x="322144" y="124259"/>
            <a:ext cx="4530128" cy="23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5" tIns="13094" rIns="26195" bIns="13094" anchor="t" anchorCtr="0">
            <a:no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13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Концепция проекта</a:t>
            </a:r>
            <a:endParaRPr sz="1300" b="1" dirty="0">
              <a:solidFill>
                <a:srgbClr val="0A4A5C"/>
              </a:solidFill>
              <a:ea typeface="Tahoma" pitchFamily="34" charset="0"/>
              <a:cs typeface="Tahoma" pitchFamily="34" charset="0"/>
              <a:sym typeface="Montserra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042C75F-A47D-4F07-BBF8-CDFEE102CF9D}"/>
              </a:ext>
            </a:extLst>
          </p:cNvPr>
          <p:cNvSpPr txBox="1"/>
          <p:nvPr/>
        </p:nvSpPr>
        <p:spPr>
          <a:xfrm>
            <a:off x="322144" y="547726"/>
            <a:ext cx="5176333" cy="2051870"/>
          </a:xfrm>
          <a:prstGeom prst="rect">
            <a:avLst/>
          </a:prstGeom>
          <a:noFill/>
        </p:spPr>
        <p:txBody>
          <a:bodyPr wrap="square" lIns="43205" tIns="21603" rIns="43205" bIns="21603" rtlCol="0">
            <a:spAutoFit/>
          </a:bodyPr>
          <a:lstStyle/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Этапы реализации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dirty="0">
                <a:ea typeface="Tahoma" pitchFamily="34" charset="0"/>
                <a:cs typeface="Tahoma" pitchFamily="34" charset="0"/>
              </a:rPr>
              <a:t>Этапы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dirty="0">
                <a:ea typeface="Tahoma" pitchFamily="34" charset="0"/>
                <a:cs typeface="Tahoma" pitchFamily="34" charset="0"/>
              </a:rPr>
              <a:t>Основные элементы (участники, механизмы, ресурсы) </a:t>
            </a:r>
          </a:p>
          <a:p>
            <a:pPr>
              <a:lnSpc>
                <a:spcPct val="150000"/>
              </a:lnSpc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2.  </a:t>
            </a:r>
            <a:r>
              <a:rPr lang="ru-RU" sz="1100" dirty="0" err="1">
                <a:ea typeface="Tahoma" pitchFamily="34" charset="0"/>
                <a:cs typeface="Tahoma" pitchFamily="34" charset="0"/>
              </a:rPr>
              <a:t>Стейкхолдеры</a:t>
            </a:r>
            <a:r>
              <a:rPr lang="ru-RU" sz="1100" dirty="0">
                <a:ea typeface="Tahoma" pitchFamily="34" charset="0"/>
                <a:cs typeface="Tahoma" pitchFamily="34" charset="0"/>
              </a:rPr>
              <a:t> и заказчик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dirty="0">
                <a:ea typeface="Tahoma" pitchFamily="34" charset="0"/>
                <a:cs typeface="Tahoma" pitchFamily="34" charset="0"/>
              </a:rPr>
              <a:t>Кто выступает заказчиком проекта?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dirty="0">
                <a:ea typeface="Tahoma" pitchFamily="34" charset="0"/>
                <a:cs typeface="Tahoma" pitchFamily="34" charset="0"/>
              </a:rPr>
              <a:t>Кто является заинтересованными сторонами проекта?</a:t>
            </a:r>
          </a:p>
          <a:p>
            <a:pPr>
              <a:lnSpc>
                <a:spcPct val="150000"/>
              </a:lnSpc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3. Результаты и продукт проекта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dirty="0">
                <a:ea typeface="Tahoma" pitchFamily="34" charset="0"/>
                <a:cs typeface="Tahoma" pitchFamily="34" charset="0"/>
              </a:rPr>
              <a:t>Какое знание будет получено по итогам проекта?</a:t>
            </a:r>
          </a:p>
          <a:p>
            <a:pPr marL="324041" indent="-162020">
              <a:lnSpc>
                <a:spcPct val="150000"/>
              </a:lnSpc>
              <a:buClr>
                <a:srgbClr val="08577A"/>
              </a:buClr>
              <a:buFont typeface="Formular" panose="02000000000000000000" pitchFamily="2" charset="-52"/>
              <a:buChar char="→"/>
            </a:pPr>
            <a:r>
              <a:rPr lang="ru-RU" dirty="0">
                <a:ea typeface="Tahoma" pitchFamily="34" charset="0"/>
                <a:cs typeface="Tahoma" pitchFamily="34" charset="0"/>
              </a:rPr>
              <a:t>Какие продукты можно сделать на основе проекта? </a:t>
            </a:r>
          </a:p>
        </p:txBody>
      </p:sp>
    </p:spTree>
    <p:extLst>
      <p:ext uri="{BB962C8B-B14F-4D97-AF65-F5344CB8AC3E}">
        <p14:creationId xmlns:p14="http://schemas.microsoft.com/office/powerpoint/2010/main" val="327850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17;g113ff5c7840_1_52">
            <a:extLst>
              <a:ext uri="{FF2B5EF4-FFF2-40B4-BE49-F238E27FC236}">
                <a16:creationId xmlns:a16="http://schemas.microsoft.com/office/drawing/2014/main" id="{471DCAB8-EB7B-4CA3-8A0F-5F4DB18F05BA}"/>
              </a:ext>
            </a:extLst>
          </p:cNvPr>
          <p:cNvSpPr/>
          <p:nvPr/>
        </p:nvSpPr>
        <p:spPr>
          <a:xfrm>
            <a:off x="322144" y="134084"/>
            <a:ext cx="3815097" cy="266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5" tIns="13094" rIns="26195" bIns="13094" anchor="t" anchorCtr="0">
            <a:no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13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Пробное действие </a:t>
            </a:r>
            <a:r>
              <a:rPr lang="ru-RU" sz="1300" b="1" dirty="0" smtClean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(3 </a:t>
            </a:r>
            <a:r>
              <a:rPr lang="ru-RU" sz="13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слайда)</a:t>
            </a:r>
            <a:endParaRPr sz="1300" b="1" dirty="0">
              <a:solidFill>
                <a:srgbClr val="0A4A5C"/>
              </a:solidFill>
              <a:ea typeface="Tahoma" pitchFamily="34" charset="0"/>
              <a:cs typeface="Tahoma" pitchFamily="34" charset="0"/>
              <a:sym typeface="Montserrat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042C75F-A47D-4F07-BBF8-CDFEE102CF9D}"/>
              </a:ext>
            </a:extLst>
          </p:cNvPr>
          <p:cNvSpPr txBox="1"/>
          <p:nvPr/>
        </p:nvSpPr>
        <p:spPr>
          <a:xfrm>
            <a:off x="322144" y="713150"/>
            <a:ext cx="5176333" cy="1982620"/>
          </a:xfrm>
          <a:prstGeom prst="rect">
            <a:avLst/>
          </a:prstGeom>
          <a:noFill/>
        </p:spPr>
        <p:txBody>
          <a:bodyPr wrap="square" lIns="43205" tIns="21603" rIns="43205" bIns="21603" rtlCol="0">
            <a:spAutoFit/>
          </a:bodyPr>
          <a:lstStyle/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Алгоритм анализа</a:t>
            </a:r>
          </a:p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Сбор, анализ и интерпретация данных, способных верифицировать гипотезу/решить одну из задач проекта</a:t>
            </a:r>
          </a:p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Описание </a:t>
            </a:r>
            <a:r>
              <a:rPr lang="en-US" sz="1100" dirty="0">
                <a:ea typeface="Tahoma" pitchFamily="34" charset="0"/>
                <a:cs typeface="Tahoma" pitchFamily="34" charset="0"/>
              </a:rPr>
              <a:t>MVP</a:t>
            </a:r>
            <a:r>
              <a:rPr lang="ru-RU" sz="1100" dirty="0">
                <a:ea typeface="Tahoma" pitchFamily="34" charset="0"/>
                <a:cs typeface="Tahoma" pitchFamily="34" charset="0"/>
              </a:rPr>
              <a:t> проекта (пробный минимально жизнеспособный продукт) или результатов анализа</a:t>
            </a:r>
          </a:p>
          <a:p>
            <a:pPr marL="216027" indent="-216027">
              <a:lnSpc>
                <a:spcPct val="150000"/>
              </a:lnSpc>
              <a:buAutoNum type="arabicPeriod"/>
            </a:pPr>
            <a:r>
              <a:rPr lang="ru-RU" sz="1100" dirty="0">
                <a:ea typeface="Tahoma" pitchFamily="34" charset="0"/>
                <a:cs typeface="Tahoma" pitchFamily="34" charset="0"/>
              </a:rPr>
              <a:t>Рефлексия:</a:t>
            </a:r>
          </a:p>
          <a:p>
            <a:pPr marL="162020" indent="178522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>
                <a:ea typeface="Tahoma" pitchFamily="34" charset="0"/>
                <a:cs typeface="Tahoma" pitchFamily="34" charset="0"/>
              </a:rPr>
              <a:t>Что получилось, что не получилось?</a:t>
            </a:r>
          </a:p>
          <a:p>
            <a:pPr marL="162020" indent="178522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>
                <a:ea typeface="Tahoma" pitchFamily="34" charset="0"/>
                <a:cs typeface="Tahoma" pitchFamily="34" charset="0"/>
              </a:rPr>
              <a:t>Что нужно сделать для более эффективной реализации проекта?</a:t>
            </a:r>
          </a:p>
        </p:txBody>
      </p:sp>
    </p:spTree>
    <p:extLst>
      <p:ext uri="{BB962C8B-B14F-4D97-AF65-F5344CB8AC3E}">
        <p14:creationId xmlns:p14="http://schemas.microsoft.com/office/powerpoint/2010/main" val="2878049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17;g113ff5c7840_1_52">
            <a:extLst>
              <a:ext uri="{FF2B5EF4-FFF2-40B4-BE49-F238E27FC236}">
                <a16:creationId xmlns:a16="http://schemas.microsoft.com/office/drawing/2014/main" id="{471DCAB8-EB7B-4CA3-8A0F-5F4DB18F05BA}"/>
              </a:ext>
            </a:extLst>
          </p:cNvPr>
          <p:cNvSpPr/>
          <p:nvPr/>
        </p:nvSpPr>
        <p:spPr>
          <a:xfrm>
            <a:off x="1870742" y="1480766"/>
            <a:ext cx="2304736" cy="238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95" tIns="13094" rIns="26195" bIns="13094" anchor="t" anchorCtr="0">
            <a:noAutofit/>
          </a:bodyPr>
          <a:lstStyle/>
          <a:p>
            <a:pPr>
              <a:buClr>
                <a:srgbClr val="000000"/>
              </a:buClr>
              <a:buSzPts val="3200"/>
            </a:pPr>
            <a:r>
              <a:rPr lang="ru-RU" sz="1500" b="1" dirty="0">
                <a:solidFill>
                  <a:srgbClr val="0A4A5C"/>
                </a:solidFill>
                <a:ea typeface="Tahoma" pitchFamily="34" charset="0"/>
                <a:cs typeface="Tahoma" pitchFamily="34" charset="0"/>
                <a:sym typeface="Montserrat"/>
              </a:rPr>
              <a:t>Спасибо за внимание!</a:t>
            </a:r>
            <a:endParaRPr sz="1500" b="1" dirty="0">
              <a:solidFill>
                <a:srgbClr val="0A4A5C"/>
              </a:solidFill>
              <a:ea typeface="Tahoma" pitchFamily="34" charset="0"/>
              <a:cs typeface="Tahoma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580853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221</Words>
  <Application>Microsoft Office PowerPoint</Application>
  <PresentationFormat>Произвольный</PresentationFormat>
  <Paragraphs>46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Formular</vt:lpstr>
      <vt:lpstr>Montserrat</vt:lpstr>
      <vt:lpstr>Symbol</vt:lpstr>
      <vt:lpstr>Tahoma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Группа 11</dc:title>
  <dc:creator>пользователь Microsoft Office</dc:creator>
  <cp:lastModifiedBy>Gevie</cp:lastModifiedBy>
  <cp:revision>77</cp:revision>
  <dcterms:created xsi:type="dcterms:W3CDTF">2019-11-12T06:44:39Z</dcterms:created>
  <dcterms:modified xsi:type="dcterms:W3CDTF">2026-09-16T09:09:25Z</dcterms:modified>
</cp:coreProperties>
</file>